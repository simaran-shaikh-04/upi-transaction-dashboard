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A56DB"/>
          </a:solidFill>
          <a:ln/>
        </p:spPr>
      </p:sp>
      <p:sp>
        <p:nvSpPr>
          <p:cNvPr id="3" name="Shape 1"/>
          <p:cNvSpPr/>
          <p:nvPr/>
        </p:nvSpPr>
        <p:spPr>
          <a:xfrm>
            <a:off x="164592" y="0"/>
            <a:ext cx="8979408" cy="73152"/>
          </a:xfrm>
          <a:prstGeom prst="rect">
            <a:avLst/>
          </a:prstGeom>
          <a:solidFill>
            <a:srgbClr val="0891B2"/>
          </a:solidFill>
          <a:ln/>
        </p:spPr>
      </p:sp>
      <p:sp>
        <p:nvSpPr>
          <p:cNvPr id="4" name="Text 2"/>
          <p:cNvSpPr/>
          <p:nvPr/>
        </p:nvSpPr>
        <p:spPr>
          <a:xfrm>
            <a:off x="411480" y="640080"/>
            <a:ext cx="83210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Trebuchet MS" pitchFamily="34" charset="0"/>
                <a:ea typeface="Trebuchet MS" pitchFamily="34" charset="-122"/>
                <a:cs typeface="Trebuchet MS" pitchFamily="34" charset="-120"/>
              </a:rPr>
              <a:t>UPI Transaction Analytics</a:t>
            </a:r>
            <a:endParaRPr lang="en-US" sz="4000" dirty="0"/>
          </a:p>
        </p:txBody>
      </p:sp>
      <p:sp>
        <p:nvSpPr>
          <p:cNvPr id="5" name="Text 3"/>
          <p:cNvSpPr/>
          <p:nvPr/>
        </p:nvSpPr>
        <p:spPr>
          <a:xfrm>
            <a:off x="411480" y="1417320"/>
            <a:ext cx="8321040" cy="640080"/>
          </a:xfrm>
          <a:prstGeom prst="rect">
            <a:avLst/>
          </a:prstGeom>
          <a:noFill/>
          <a:ln/>
        </p:spPr>
        <p:txBody>
          <a:bodyPr wrap="square" lIns="0" tIns="0" rIns="0" bIns="0" rtlCol="0" anchor="ctr"/>
          <a:lstStyle/>
          <a:p>
            <a:pPr algn="l" indent="0" marL="0">
              <a:buNone/>
            </a:pPr>
            <a:r>
              <a:rPr lang="en-US" sz="4000" b="1" dirty="0">
                <a:solidFill>
                  <a:srgbClr val="F59E0B"/>
                </a:solidFill>
                <a:latin typeface="Trebuchet MS" pitchFamily="34" charset="0"/>
                <a:ea typeface="Trebuchet MS" pitchFamily="34" charset="-122"/>
                <a:cs typeface="Trebuchet MS" pitchFamily="34" charset="-120"/>
              </a:rPr>
              <a:t>Dashboard</a:t>
            </a:r>
            <a:endParaRPr lang="en-US" sz="4000" dirty="0"/>
          </a:p>
        </p:txBody>
      </p:sp>
      <p:sp>
        <p:nvSpPr>
          <p:cNvPr id="6" name="Shape 4"/>
          <p:cNvSpPr/>
          <p:nvPr/>
        </p:nvSpPr>
        <p:spPr>
          <a:xfrm>
            <a:off x="411480" y="2148840"/>
            <a:ext cx="2194560" cy="54864"/>
          </a:xfrm>
          <a:prstGeom prst="rect">
            <a:avLst/>
          </a:prstGeom>
          <a:solidFill>
            <a:srgbClr val="0891B2"/>
          </a:solidFill>
          <a:ln/>
        </p:spPr>
      </p:sp>
      <p:sp>
        <p:nvSpPr>
          <p:cNvPr id="7" name="Text 5"/>
          <p:cNvSpPr/>
          <p:nvPr/>
        </p:nvSpPr>
        <p:spPr>
          <a:xfrm>
            <a:off x="411480" y="2286000"/>
            <a:ext cx="7772400" cy="365760"/>
          </a:xfrm>
          <a:prstGeom prst="rect">
            <a:avLst/>
          </a:prstGeom>
          <a:noFill/>
          <a:ln/>
        </p:spPr>
        <p:txBody>
          <a:bodyPr wrap="square" lIns="0" tIns="0" rIns="0" bIns="0" rtlCol="0" anchor="ctr"/>
          <a:lstStyle/>
          <a:p>
            <a:pPr algn="l" indent="0" marL="0">
              <a:buNone/>
            </a:pPr>
            <a:r>
              <a:rPr lang="en-US" sz="1400" dirty="0">
                <a:solidFill>
                  <a:srgbClr val="CADCFC"/>
                </a:solidFill>
                <a:latin typeface="Calibri" pitchFamily="34" charset="0"/>
                <a:ea typeface="Calibri" pitchFamily="34" charset="-122"/>
                <a:cs typeface="Calibri" pitchFamily="34" charset="-120"/>
              </a:rPr>
              <a:t>MS Elevate AICTE Internship  ·  Data Analytics Track  ·  2025–26</a:t>
            </a:r>
            <a:endParaRPr lang="en-US" sz="1400" dirty="0"/>
          </a:p>
        </p:txBody>
      </p:sp>
      <p:sp>
        <p:nvSpPr>
          <p:cNvPr id="8" name="Shape 6"/>
          <p:cNvSpPr/>
          <p:nvPr/>
        </p:nvSpPr>
        <p:spPr>
          <a:xfrm>
            <a:off x="411480" y="2834640"/>
            <a:ext cx="4572000" cy="1920240"/>
          </a:xfrm>
          <a:prstGeom prst="rect">
            <a:avLst/>
          </a:prstGeom>
          <a:solidFill>
            <a:srgbClr val="112266">
              <a:alpha val="80000"/>
            </a:srgbClr>
          </a:solidFill>
          <a:ln w="12700">
            <a:solidFill>
              <a:srgbClr val="1A56DB"/>
            </a:solidFill>
            <a:prstDash val="solid"/>
          </a:ln>
        </p:spPr>
      </p:sp>
      <p:sp>
        <p:nvSpPr>
          <p:cNvPr id="9" name="Text 7"/>
          <p:cNvSpPr/>
          <p:nvPr/>
        </p:nvSpPr>
        <p:spPr>
          <a:xfrm>
            <a:off x="594360" y="2944368"/>
            <a:ext cx="1554480" cy="329184"/>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Student Name:</a:t>
            </a:r>
            <a:endParaRPr lang="en-US" sz="1100" dirty="0"/>
          </a:p>
        </p:txBody>
      </p:sp>
      <p:sp>
        <p:nvSpPr>
          <p:cNvPr id="10" name="Text 8"/>
          <p:cNvSpPr/>
          <p:nvPr/>
        </p:nvSpPr>
        <p:spPr>
          <a:xfrm>
            <a:off x="2148840" y="2944368"/>
            <a:ext cx="2651760" cy="32918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Simaran Shaikh</a:t>
            </a:r>
            <a:endParaRPr lang="en-US" sz="1100" dirty="0"/>
          </a:p>
        </p:txBody>
      </p:sp>
      <p:sp>
        <p:nvSpPr>
          <p:cNvPr id="11" name="Text 9"/>
          <p:cNvSpPr/>
          <p:nvPr/>
        </p:nvSpPr>
        <p:spPr>
          <a:xfrm>
            <a:off x="594360" y="3355848"/>
            <a:ext cx="1554480" cy="329184"/>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College:</a:t>
            </a:r>
            <a:endParaRPr lang="en-US" sz="1100" dirty="0"/>
          </a:p>
        </p:txBody>
      </p:sp>
      <p:sp>
        <p:nvSpPr>
          <p:cNvPr id="12" name="Text 10"/>
          <p:cNvSpPr/>
          <p:nvPr/>
        </p:nvSpPr>
        <p:spPr>
          <a:xfrm>
            <a:off x="2148840" y="3355848"/>
            <a:ext cx="2651760" cy="32918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Govt. College of Arts, Science &amp; Commerce, Goa</a:t>
            </a:r>
            <a:endParaRPr lang="en-US" sz="1100" dirty="0"/>
          </a:p>
        </p:txBody>
      </p:sp>
      <p:sp>
        <p:nvSpPr>
          <p:cNvPr id="13" name="Text 11"/>
          <p:cNvSpPr/>
          <p:nvPr/>
        </p:nvSpPr>
        <p:spPr>
          <a:xfrm>
            <a:off x="594360" y="3767328"/>
            <a:ext cx="1554480" cy="329184"/>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Department:</a:t>
            </a:r>
            <a:endParaRPr lang="en-US" sz="1100" dirty="0"/>
          </a:p>
        </p:txBody>
      </p:sp>
      <p:sp>
        <p:nvSpPr>
          <p:cNvPr id="14" name="Text 12"/>
          <p:cNvSpPr/>
          <p:nvPr/>
        </p:nvSpPr>
        <p:spPr>
          <a:xfrm>
            <a:off x="2148840" y="3767328"/>
            <a:ext cx="2651760" cy="32918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Bachelor of Commerce (Financial Accounting)</a:t>
            </a:r>
            <a:endParaRPr lang="en-US" sz="1100" dirty="0"/>
          </a:p>
        </p:txBody>
      </p:sp>
      <p:sp>
        <p:nvSpPr>
          <p:cNvPr id="15" name="Text 13"/>
          <p:cNvSpPr/>
          <p:nvPr/>
        </p:nvSpPr>
        <p:spPr>
          <a:xfrm>
            <a:off x="594360" y="4178808"/>
            <a:ext cx="1554480" cy="329184"/>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Email ID:</a:t>
            </a:r>
            <a:endParaRPr lang="en-US" sz="1100" dirty="0"/>
          </a:p>
        </p:txBody>
      </p:sp>
      <p:sp>
        <p:nvSpPr>
          <p:cNvPr id="16" name="Text 14"/>
          <p:cNvSpPr/>
          <p:nvPr/>
        </p:nvSpPr>
        <p:spPr>
          <a:xfrm>
            <a:off x="2148840" y="4178808"/>
            <a:ext cx="2651760" cy="32918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simaranshaikh@example.com</a:t>
            </a:r>
            <a:endParaRPr lang="en-US" sz="1100" dirty="0"/>
          </a:p>
        </p:txBody>
      </p:sp>
      <p:sp>
        <p:nvSpPr>
          <p:cNvPr id="17" name="Shape 15"/>
          <p:cNvSpPr/>
          <p:nvPr/>
        </p:nvSpPr>
        <p:spPr>
          <a:xfrm>
            <a:off x="5943600" y="2880360"/>
            <a:ext cx="2743200" cy="914400"/>
          </a:xfrm>
          <a:prstGeom prst="rect">
            <a:avLst/>
          </a:prstGeom>
          <a:solidFill>
            <a:srgbClr val="0891B2">
              <a:alpha val="80000"/>
            </a:srgbClr>
          </a:solidFill>
          <a:ln w="12700">
            <a:solidFill>
              <a:srgbClr val="0891B2"/>
            </a:solidFill>
            <a:prstDash val="solid"/>
          </a:ln>
        </p:spPr>
      </p:sp>
      <p:sp>
        <p:nvSpPr>
          <p:cNvPr id="18" name="Text 16"/>
          <p:cNvSpPr/>
          <p:nvPr/>
        </p:nvSpPr>
        <p:spPr>
          <a:xfrm>
            <a:off x="5989320" y="2926080"/>
            <a:ext cx="2651760" cy="274320"/>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Dataset</a:t>
            </a:r>
            <a:endParaRPr lang="en-US" sz="1000" dirty="0"/>
          </a:p>
        </p:txBody>
      </p:sp>
      <p:sp>
        <p:nvSpPr>
          <p:cNvPr id="19" name="Text 17"/>
          <p:cNvSpPr/>
          <p:nvPr/>
        </p:nvSpPr>
        <p:spPr>
          <a:xfrm>
            <a:off x="5989320" y="3200400"/>
            <a:ext cx="265176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250,000 UPI Transactions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Kaggle · India · 2024</a:t>
            </a:r>
            <a:endParaRPr lang="en-US" sz="1200" dirty="0"/>
          </a:p>
        </p:txBody>
      </p:sp>
      <p:sp>
        <p:nvSpPr>
          <p:cNvPr id="20" name="Shape 18"/>
          <p:cNvSpPr/>
          <p:nvPr/>
        </p:nvSpPr>
        <p:spPr>
          <a:xfrm>
            <a:off x="5943600" y="3931920"/>
            <a:ext cx="2743200" cy="914400"/>
          </a:xfrm>
          <a:prstGeom prst="rect">
            <a:avLst/>
          </a:prstGeom>
          <a:solidFill>
            <a:srgbClr val="1E3A5F">
              <a:alpha val="90000"/>
            </a:srgbClr>
          </a:solidFill>
          <a:ln w="12700">
            <a:solidFill>
              <a:srgbClr val="1A56DB"/>
            </a:solidFill>
            <a:prstDash val="solid"/>
          </a:ln>
        </p:spPr>
      </p:sp>
      <p:sp>
        <p:nvSpPr>
          <p:cNvPr id="21" name="Text 19"/>
          <p:cNvSpPr/>
          <p:nvPr/>
        </p:nvSpPr>
        <p:spPr>
          <a:xfrm>
            <a:off x="5989320" y="3977640"/>
            <a:ext cx="2651760" cy="274320"/>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Tools Used</a:t>
            </a:r>
            <a:endParaRPr lang="en-US" sz="1000" dirty="0"/>
          </a:p>
        </p:txBody>
      </p:sp>
      <p:sp>
        <p:nvSpPr>
          <p:cNvPr id="22" name="Text 20"/>
          <p:cNvSpPr/>
          <p:nvPr/>
        </p:nvSpPr>
        <p:spPr>
          <a:xfrm>
            <a:off x="5989320" y="4251960"/>
            <a:ext cx="265176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Microsoft Power BI  ·  Power Query</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DAX  ·  Excel</a:t>
            </a:r>
            <a:endParaRPr lang="en-US" sz="1200" dirty="0"/>
          </a:p>
        </p:txBody>
      </p:sp>
      <p:sp>
        <p:nvSpPr>
          <p:cNvPr id="23" name="Shape 21"/>
          <p:cNvSpPr/>
          <p:nvPr/>
        </p:nvSpPr>
        <p:spPr>
          <a:xfrm>
            <a:off x="164592" y="4983480"/>
            <a:ext cx="8979408" cy="160020"/>
          </a:xfrm>
          <a:prstGeom prst="rect">
            <a:avLst/>
          </a:prstGeom>
          <a:solidFill>
            <a:srgbClr val="1A56DB"/>
          </a:solidFill>
          <a:ln/>
        </p:spPr>
      </p:sp>
      <p:sp>
        <p:nvSpPr>
          <p:cNvPr id="24" name="Text 22"/>
          <p:cNvSpPr/>
          <p:nvPr/>
        </p:nvSpPr>
        <p:spPr>
          <a:xfrm>
            <a:off x="164592" y="4983480"/>
            <a:ext cx="8979408" cy="16002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CAPSTONE PROJECT  ·  MS Elevate AICTE Internship  ·  February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OUTLINE</a:t>
            </a:r>
            <a:endParaRPr lang="en-US" sz="2200" dirty="0"/>
          </a:p>
        </p:txBody>
      </p:sp>
      <p:sp>
        <p:nvSpPr>
          <p:cNvPr id="4" name="Shape 2"/>
          <p:cNvSpPr/>
          <p:nvPr/>
        </p:nvSpPr>
        <p:spPr>
          <a:xfrm>
            <a:off x="0" y="685800"/>
            <a:ext cx="9144000" cy="54864"/>
          </a:xfrm>
          <a:prstGeom prst="rect">
            <a:avLst/>
          </a:prstGeom>
          <a:solidFill>
            <a:srgbClr val="0891B2"/>
          </a:solidFill>
          <a:ln/>
        </p:spPr>
      </p:sp>
      <p:sp>
        <p:nvSpPr>
          <p:cNvPr id="5" name="Shape 3"/>
          <p:cNvSpPr/>
          <p:nvPr/>
        </p:nvSpPr>
        <p:spPr>
          <a:xfrm>
            <a:off x="274320" y="960120"/>
            <a:ext cx="4114800" cy="841248"/>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960120"/>
            <a:ext cx="411480" cy="841248"/>
          </a:xfrm>
          <a:prstGeom prst="rect">
            <a:avLst/>
          </a:prstGeom>
          <a:solidFill>
            <a:srgbClr val="0D1B3E"/>
          </a:solidFill>
          <a:ln/>
        </p:spPr>
      </p:sp>
      <p:sp>
        <p:nvSpPr>
          <p:cNvPr id="7" name="Text 5"/>
          <p:cNvSpPr/>
          <p:nvPr/>
        </p:nvSpPr>
        <p:spPr>
          <a:xfrm>
            <a:off x="274320" y="960120"/>
            <a:ext cx="411480" cy="841248"/>
          </a:xfrm>
          <a:prstGeom prst="rect">
            <a:avLst/>
          </a:prstGeom>
          <a:noFill/>
          <a:ln/>
        </p:spPr>
        <p:txBody>
          <a:bodyPr wrap="square" lIns="0" tIns="0" rIns="0" bIns="0" rtlCol="0" anchor="ctr"/>
          <a:lstStyle/>
          <a:p>
            <a:pPr algn="ctr" indent="0" marL="0">
              <a:buNone/>
            </a:pPr>
            <a:r>
              <a:rPr lang="en-US" sz="1300" b="1" dirty="0">
                <a:solidFill>
                  <a:srgbClr val="F59E0B"/>
                </a:solidFill>
                <a:latin typeface="Trebuchet MS" pitchFamily="34" charset="0"/>
                <a:ea typeface="Trebuchet MS" pitchFamily="34" charset="-122"/>
                <a:cs typeface="Trebuchet MS" pitchFamily="34" charset="-120"/>
              </a:rPr>
              <a:t>01</a:t>
            </a:r>
            <a:endParaRPr lang="en-US" sz="1300" dirty="0"/>
          </a:p>
        </p:txBody>
      </p:sp>
      <p:sp>
        <p:nvSpPr>
          <p:cNvPr id="8" name="Text 6"/>
          <p:cNvSpPr/>
          <p:nvPr/>
        </p:nvSpPr>
        <p:spPr>
          <a:xfrm>
            <a:off x="749808" y="1024128"/>
            <a:ext cx="3547872" cy="292608"/>
          </a:xfrm>
          <a:prstGeom prst="rect">
            <a:avLst/>
          </a:prstGeom>
          <a:noFill/>
          <a:ln/>
        </p:spPr>
        <p:txBody>
          <a:bodyPr wrap="square" lIns="0" tIns="0" rIns="0" bIns="0" rtlCol="0" anchor="ctr"/>
          <a:lstStyle/>
          <a:p>
            <a:pPr indent="0" marL="0">
              <a:buNone/>
            </a:pPr>
            <a:r>
              <a:rPr lang="en-US" sz="1300" b="1" dirty="0">
                <a:solidFill>
                  <a:srgbClr val="0D1B3E"/>
                </a:solidFill>
                <a:latin typeface="Trebuchet MS" pitchFamily="34" charset="0"/>
                <a:ea typeface="Trebuchet MS" pitchFamily="34" charset="-122"/>
                <a:cs typeface="Trebuchet MS" pitchFamily="34" charset="-120"/>
              </a:rPr>
              <a:t>Problem Statement</a:t>
            </a:r>
            <a:endParaRPr lang="en-US" sz="1300" dirty="0"/>
          </a:p>
        </p:txBody>
      </p:sp>
      <p:sp>
        <p:nvSpPr>
          <p:cNvPr id="9" name="Text 7"/>
          <p:cNvSpPr/>
          <p:nvPr/>
        </p:nvSpPr>
        <p:spPr>
          <a:xfrm>
            <a:off x="749808" y="1344168"/>
            <a:ext cx="3547872"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UPI transaction data challenges &amp; analytical gaps</a:t>
            </a:r>
            <a:endParaRPr lang="en-US" sz="1000" dirty="0"/>
          </a:p>
        </p:txBody>
      </p:sp>
      <p:sp>
        <p:nvSpPr>
          <p:cNvPr id="10" name="Shape 8"/>
          <p:cNvSpPr/>
          <p:nvPr/>
        </p:nvSpPr>
        <p:spPr>
          <a:xfrm>
            <a:off x="274320" y="1965960"/>
            <a:ext cx="4114800" cy="841248"/>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274320" y="1965960"/>
            <a:ext cx="411480" cy="841248"/>
          </a:xfrm>
          <a:prstGeom prst="rect">
            <a:avLst/>
          </a:prstGeom>
          <a:solidFill>
            <a:srgbClr val="0D1B3E"/>
          </a:solidFill>
          <a:ln/>
        </p:spPr>
      </p:sp>
      <p:sp>
        <p:nvSpPr>
          <p:cNvPr id="12" name="Text 10"/>
          <p:cNvSpPr/>
          <p:nvPr/>
        </p:nvSpPr>
        <p:spPr>
          <a:xfrm>
            <a:off x="274320" y="1965960"/>
            <a:ext cx="411480" cy="841248"/>
          </a:xfrm>
          <a:prstGeom prst="rect">
            <a:avLst/>
          </a:prstGeom>
          <a:noFill/>
          <a:ln/>
        </p:spPr>
        <p:txBody>
          <a:bodyPr wrap="square" lIns="0" tIns="0" rIns="0" bIns="0" rtlCol="0" anchor="ctr"/>
          <a:lstStyle/>
          <a:p>
            <a:pPr algn="ctr" indent="0" marL="0">
              <a:buNone/>
            </a:pPr>
            <a:r>
              <a:rPr lang="en-US" sz="1300" b="1" dirty="0">
                <a:solidFill>
                  <a:srgbClr val="F59E0B"/>
                </a:solidFill>
                <a:latin typeface="Trebuchet MS" pitchFamily="34" charset="0"/>
                <a:ea typeface="Trebuchet MS" pitchFamily="34" charset="-122"/>
                <a:cs typeface="Trebuchet MS" pitchFamily="34" charset="-120"/>
              </a:rPr>
              <a:t>02</a:t>
            </a:r>
            <a:endParaRPr lang="en-US" sz="1300" dirty="0"/>
          </a:p>
        </p:txBody>
      </p:sp>
      <p:sp>
        <p:nvSpPr>
          <p:cNvPr id="13" name="Text 11"/>
          <p:cNvSpPr/>
          <p:nvPr/>
        </p:nvSpPr>
        <p:spPr>
          <a:xfrm>
            <a:off x="749808" y="2029968"/>
            <a:ext cx="3547872" cy="292608"/>
          </a:xfrm>
          <a:prstGeom prst="rect">
            <a:avLst/>
          </a:prstGeom>
          <a:noFill/>
          <a:ln/>
        </p:spPr>
        <p:txBody>
          <a:bodyPr wrap="square" lIns="0" tIns="0" rIns="0" bIns="0" rtlCol="0" anchor="ctr"/>
          <a:lstStyle/>
          <a:p>
            <a:pPr indent="0" marL="0">
              <a:buNone/>
            </a:pPr>
            <a:r>
              <a:rPr lang="en-US" sz="1300" b="1" dirty="0">
                <a:solidFill>
                  <a:srgbClr val="0D1B3E"/>
                </a:solidFill>
                <a:latin typeface="Trebuchet MS" pitchFamily="34" charset="0"/>
                <a:ea typeface="Trebuchet MS" pitchFamily="34" charset="-122"/>
                <a:cs typeface="Trebuchet MS" pitchFamily="34" charset="-120"/>
              </a:rPr>
              <a:t>Proposed Solution</a:t>
            </a:r>
            <a:endParaRPr lang="en-US" sz="1300" dirty="0"/>
          </a:p>
        </p:txBody>
      </p:sp>
      <p:sp>
        <p:nvSpPr>
          <p:cNvPr id="14" name="Text 12"/>
          <p:cNvSpPr/>
          <p:nvPr/>
        </p:nvSpPr>
        <p:spPr>
          <a:xfrm>
            <a:off x="749808" y="2350008"/>
            <a:ext cx="3547872"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3-page interactive Power BI dashboard</a:t>
            </a:r>
            <a:endParaRPr lang="en-US" sz="1000" dirty="0"/>
          </a:p>
        </p:txBody>
      </p:sp>
      <p:sp>
        <p:nvSpPr>
          <p:cNvPr id="15" name="Shape 13"/>
          <p:cNvSpPr/>
          <p:nvPr/>
        </p:nvSpPr>
        <p:spPr>
          <a:xfrm>
            <a:off x="274320" y="2971800"/>
            <a:ext cx="4114800" cy="841248"/>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274320" y="2971800"/>
            <a:ext cx="411480" cy="841248"/>
          </a:xfrm>
          <a:prstGeom prst="rect">
            <a:avLst/>
          </a:prstGeom>
          <a:solidFill>
            <a:srgbClr val="0D1B3E"/>
          </a:solidFill>
          <a:ln/>
        </p:spPr>
      </p:sp>
      <p:sp>
        <p:nvSpPr>
          <p:cNvPr id="17" name="Text 15"/>
          <p:cNvSpPr/>
          <p:nvPr/>
        </p:nvSpPr>
        <p:spPr>
          <a:xfrm>
            <a:off x="274320" y="2971800"/>
            <a:ext cx="411480" cy="841248"/>
          </a:xfrm>
          <a:prstGeom prst="rect">
            <a:avLst/>
          </a:prstGeom>
          <a:noFill/>
          <a:ln/>
        </p:spPr>
        <p:txBody>
          <a:bodyPr wrap="square" lIns="0" tIns="0" rIns="0" bIns="0" rtlCol="0" anchor="ctr"/>
          <a:lstStyle/>
          <a:p>
            <a:pPr algn="ctr" indent="0" marL="0">
              <a:buNone/>
            </a:pPr>
            <a:r>
              <a:rPr lang="en-US" sz="1300" b="1" dirty="0">
                <a:solidFill>
                  <a:srgbClr val="F59E0B"/>
                </a:solidFill>
                <a:latin typeface="Trebuchet MS" pitchFamily="34" charset="0"/>
                <a:ea typeface="Trebuchet MS" pitchFamily="34" charset="-122"/>
                <a:cs typeface="Trebuchet MS" pitchFamily="34" charset="-120"/>
              </a:rPr>
              <a:t>03</a:t>
            </a:r>
            <a:endParaRPr lang="en-US" sz="1300" dirty="0"/>
          </a:p>
        </p:txBody>
      </p:sp>
      <p:sp>
        <p:nvSpPr>
          <p:cNvPr id="18" name="Text 16"/>
          <p:cNvSpPr/>
          <p:nvPr/>
        </p:nvSpPr>
        <p:spPr>
          <a:xfrm>
            <a:off x="749808" y="3035808"/>
            <a:ext cx="3547872" cy="292608"/>
          </a:xfrm>
          <a:prstGeom prst="rect">
            <a:avLst/>
          </a:prstGeom>
          <a:noFill/>
          <a:ln/>
        </p:spPr>
        <p:txBody>
          <a:bodyPr wrap="square" lIns="0" tIns="0" rIns="0" bIns="0" rtlCol="0" anchor="ctr"/>
          <a:lstStyle/>
          <a:p>
            <a:pPr indent="0" marL="0">
              <a:buNone/>
            </a:pPr>
            <a:r>
              <a:rPr lang="en-US" sz="1300" b="1" dirty="0">
                <a:solidFill>
                  <a:srgbClr val="0D1B3E"/>
                </a:solidFill>
                <a:latin typeface="Trebuchet MS" pitchFamily="34" charset="0"/>
                <a:ea typeface="Trebuchet MS" pitchFamily="34" charset="-122"/>
                <a:cs typeface="Trebuchet MS" pitchFamily="34" charset="-120"/>
              </a:rPr>
              <a:t>System Development</a:t>
            </a:r>
            <a:endParaRPr lang="en-US" sz="1300" dirty="0"/>
          </a:p>
        </p:txBody>
      </p:sp>
      <p:sp>
        <p:nvSpPr>
          <p:cNvPr id="19" name="Text 17"/>
          <p:cNvSpPr/>
          <p:nvPr/>
        </p:nvSpPr>
        <p:spPr>
          <a:xfrm>
            <a:off x="749808" y="3355848"/>
            <a:ext cx="3547872"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Tools, dataset &amp; Power Query transformation</a:t>
            </a:r>
            <a:endParaRPr lang="en-US" sz="1000" dirty="0"/>
          </a:p>
        </p:txBody>
      </p:sp>
      <p:sp>
        <p:nvSpPr>
          <p:cNvPr id="20" name="Shape 18"/>
          <p:cNvSpPr/>
          <p:nvPr/>
        </p:nvSpPr>
        <p:spPr>
          <a:xfrm>
            <a:off x="274320" y="3977640"/>
            <a:ext cx="4114800" cy="841248"/>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274320" y="3977640"/>
            <a:ext cx="411480" cy="841248"/>
          </a:xfrm>
          <a:prstGeom prst="rect">
            <a:avLst/>
          </a:prstGeom>
          <a:solidFill>
            <a:srgbClr val="0D1B3E"/>
          </a:solidFill>
          <a:ln/>
        </p:spPr>
      </p:sp>
      <p:sp>
        <p:nvSpPr>
          <p:cNvPr id="22" name="Text 20"/>
          <p:cNvSpPr/>
          <p:nvPr/>
        </p:nvSpPr>
        <p:spPr>
          <a:xfrm>
            <a:off x="274320" y="3977640"/>
            <a:ext cx="411480" cy="841248"/>
          </a:xfrm>
          <a:prstGeom prst="rect">
            <a:avLst/>
          </a:prstGeom>
          <a:noFill/>
          <a:ln/>
        </p:spPr>
        <p:txBody>
          <a:bodyPr wrap="square" lIns="0" tIns="0" rIns="0" bIns="0" rtlCol="0" anchor="ctr"/>
          <a:lstStyle/>
          <a:p>
            <a:pPr algn="ctr" indent="0" marL="0">
              <a:buNone/>
            </a:pPr>
            <a:r>
              <a:rPr lang="en-US" sz="1300" b="1" dirty="0">
                <a:solidFill>
                  <a:srgbClr val="F59E0B"/>
                </a:solidFill>
                <a:latin typeface="Trebuchet MS" pitchFamily="34" charset="0"/>
                <a:ea typeface="Trebuchet MS" pitchFamily="34" charset="-122"/>
                <a:cs typeface="Trebuchet MS" pitchFamily="34" charset="-120"/>
              </a:rPr>
              <a:t>04</a:t>
            </a:r>
            <a:endParaRPr lang="en-US" sz="1300" dirty="0"/>
          </a:p>
        </p:txBody>
      </p:sp>
      <p:sp>
        <p:nvSpPr>
          <p:cNvPr id="23" name="Text 21"/>
          <p:cNvSpPr/>
          <p:nvPr/>
        </p:nvSpPr>
        <p:spPr>
          <a:xfrm>
            <a:off x="749808" y="4041648"/>
            <a:ext cx="3547872" cy="292608"/>
          </a:xfrm>
          <a:prstGeom prst="rect">
            <a:avLst/>
          </a:prstGeom>
          <a:noFill/>
          <a:ln/>
        </p:spPr>
        <p:txBody>
          <a:bodyPr wrap="square" lIns="0" tIns="0" rIns="0" bIns="0" rtlCol="0" anchor="ctr"/>
          <a:lstStyle/>
          <a:p>
            <a:pPr indent="0" marL="0">
              <a:buNone/>
            </a:pPr>
            <a:r>
              <a:rPr lang="en-US" sz="1300" b="1" dirty="0">
                <a:solidFill>
                  <a:srgbClr val="0D1B3E"/>
                </a:solidFill>
                <a:latin typeface="Trebuchet MS" pitchFamily="34" charset="0"/>
                <a:ea typeface="Trebuchet MS" pitchFamily="34" charset="-122"/>
                <a:cs typeface="Trebuchet MS" pitchFamily="34" charset="-120"/>
              </a:rPr>
              <a:t>DAX Measures &amp; Features</a:t>
            </a:r>
            <a:endParaRPr lang="en-US" sz="1300" dirty="0"/>
          </a:p>
        </p:txBody>
      </p:sp>
      <p:sp>
        <p:nvSpPr>
          <p:cNvPr id="24" name="Text 22"/>
          <p:cNvSpPr/>
          <p:nvPr/>
        </p:nvSpPr>
        <p:spPr>
          <a:xfrm>
            <a:off x="749808" y="4361688"/>
            <a:ext cx="3547872"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Custom KPIs, measures &amp; page-level design</a:t>
            </a:r>
            <a:endParaRPr lang="en-US" sz="1000" dirty="0"/>
          </a:p>
        </p:txBody>
      </p:sp>
      <p:sp>
        <p:nvSpPr>
          <p:cNvPr id="25" name="Shape 23"/>
          <p:cNvSpPr/>
          <p:nvPr/>
        </p:nvSpPr>
        <p:spPr>
          <a:xfrm>
            <a:off x="4754880" y="960120"/>
            <a:ext cx="4114800" cy="841248"/>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4754880" y="960120"/>
            <a:ext cx="411480" cy="841248"/>
          </a:xfrm>
          <a:prstGeom prst="rect">
            <a:avLst/>
          </a:prstGeom>
          <a:solidFill>
            <a:srgbClr val="0D1B3E"/>
          </a:solidFill>
          <a:ln/>
        </p:spPr>
      </p:sp>
      <p:sp>
        <p:nvSpPr>
          <p:cNvPr id="27" name="Text 25"/>
          <p:cNvSpPr/>
          <p:nvPr/>
        </p:nvSpPr>
        <p:spPr>
          <a:xfrm>
            <a:off x="4754880" y="960120"/>
            <a:ext cx="411480" cy="841248"/>
          </a:xfrm>
          <a:prstGeom prst="rect">
            <a:avLst/>
          </a:prstGeom>
          <a:noFill/>
          <a:ln/>
        </p:spPr>
        <p:txBody>
          <a:bodyPr wrap="square" lIns="0" tIns="0" rIns="0" bIns="0" rtlCol="0" anchor="ctr"/>
          <a:lstStyle/>
          <a:p>
            <a:pPr algn="ctr" indent="0" marL="0">
              <a:buNone/>
            </a:pPr>
            <a:r>
              <a:rPr lang="en-US" sz="1300" b="1" dirty="0">
                <a:solidFill>
                  <a:srgbClr val="F59E0B"/>
                </a:solidFill>
                <a:latin typeface="Trebuchet MS" pitchFamily="34" charset="0"/>
                <a:ea typeface="Trebuchet MS" pitchFamily="34" charset="-122"/>
                <a:cs typeface="Trebuchet MS" pitchFamily="34" charset="-120"/>
              </a:rPr>
              <a:t>05</a:t>
            </a:r>
            <a:endParaRPr lang="en-US" sz="1300" dirty="0"/>
          </a:p>
        </p:txBody>
      </p:sp>
      <p:sp>
        <p:nvSpPr>
          <p:cNvPr id="28" name="Text 26"/>
          <p:cNvSpPr/>
          <p:nvPr/>
        </p:nvSpPr>
        <p:spPr>
          <a:xfrm>
            <a:off x="5230368" y="1024128"/>
            <a:ext cx="3547872" cy="292608"/>
          </a:xfrm>
          <a:prstGeom prst="rect">
            <a:avLst/>
          </a:prstGeom>
          <a:noFill/>
          <a:ln/>
        </p:spPr>
        <p:txBody>
          <a:bodyPr wrap="square" lIns="0" tIns="0" rIns="0" bIns="0" rtlCol="0" anchor="ctr"/>
          <a:lstStyle/>
          <a:p>
            <a:pPr indent="0" marL="0">
              <a:buNone/>
            </a:pPr>
            <a:r>
              <a:rPr lang="en-US" sz="1300" b="1" dirty="0">
                <a:solidFill>
                  <a:srgbClr val="0D1B3E"/>
                </a:solidFill>
                <a:latin typeface="Trebuchet MS" pitchFamily="34" charset="0"/>
                <a:ea typeface="Trebuchet MS" pitchFamily="34" charset="-122"/>
                <a:cs typeface="Trebuchet MS" pitchFamily="34" charset="-120"/>
              </a:rPr>
              <a:t>Results</a:t>
            </a:r>
            <a:endParaRPr lang="en-US" sz="1300" dirty="0"/>
          </a:p>
        </p:txBody>
      </p:sp>
      <p:sp>
        <p:nvSpPr>
          <p:cNvPr id="29" name="Text 27"/>
          <p:cNvSpPr/>
          <p:nvPr/>
        </p:nvSpPr>
        <p:spPr>
          <a:xfrm>
            <a:off x="5230368" y="1344168"/>
            <a:ext cx="3547872"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Dashboard outputs across all 3 pages</a:t>
            </a:r>
            <a:endParaRPr lang="en-US" sz="1000" dirty="0"/>
          </a:p>
        </p:txBody>
      </p:sp>
      <p:sp>
        <p:nvSpPr>
          <p:cNvPr id="30" name="Shape 28"/>
          <p:cNvSpPr/>
          <p:nvPr/>
        </p:nvSpPr>
        <p:spPr>
          <a:xfrm>
            <a:off x="4754880" y="1965960"/>
            <a:ext cx="4114800" cy="841248"/>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4754880" y="1965960"/>
            <a:ext cx="411480" cy="841248"/>
          </a:xfrm>
          <a:prstGeom prst="rect">
            <a:avLst/>
          </a:prstGeom>
          <a:solidFill>
            <a:srgbClr val="0D1B3E"/>
          </a:solidFill>
          <a:ln/>
        </p:spPr>
      </p:sp>
      <p:sp>
        <p:nvSpPr>
          <p:cNvPr id="32" name="Text 30"/>
          <p:cNvSpPr/>
          <p:nvPr/>
        </p:nvSpPr>
        <p:spPr>
          <a:xfrm>
            <a:off x="4754880" y="1965960"/>
            <a:ext cx="411480" cy="841248"/>
          </a:xfrm>
          <a:prstGeom prst="rect">
            <a:avLst/>
          </a:prstGeom>
          <a:noFill/>
          <a:ln/>
        </p:spPr>
        <p:txBody>
          <a:bodyPr wrap="square" lIns="0" tIns="0" rIns="0" bIns="0" rtlCol="0" anchor="ctr"/>
          <a:lstStyle/>
          <a:p>
            <a:pPr algn="ctr" indent="0" marL="0">
              <a:buNone/>
            </a:pPr>
            <a:r>
              <a:rPr lang="en-US" sz="1300" b="1" dirty="0">
                <a:solidFill>
                  <a:srgbClr val="F59E0B"/>
                </a:solidFill>
                <a:latin typeface="Trebuchet MS" pitchFamily="34" charset="0"/>
                <a:ea typeface="Trebuchet MS" pitchFamily="34" charset="-122"/>
                <a:cs typeface="Trebuchet MS" pitchFamily="34" charset="-120"/>
              </a:rPr>
              <a:t>06</a:t>
            </a:r>
            <a:endParaRPr lang="en-US" sz="1300" dirty="0"/>
          </a:p>
        </p:txBody>
      </p:sp>
      <p:sp>
        <p:nvSpPr>
          <p:cNvPr id="33" name="Text 31"/>
          <p:cNvSpPr/>
          <p:nvPr/>
        </p:nvSpPr>
        <p:spPr>
          <a:xfrm>
            <a:off x="5230368" y="2029968"/>
            <a:ext cx="3547872" cy="292608"/>
          </a:xfrm>
          <a:prstGeom prst="rect">
            <a:avLst/>
          </a:prstGeom>
          <a:noFill/>
          <a:ln/>
        </p:spPr>
        <p:txBody>
          <a:bodyPr wrap="square" lIns="0" tIns="0" rIns="0" bIns="0" rtlCol="0" anchor="ctr"/>
          <a:lstStyle/>
          <a:p>
            <a:pPr indent="0" marL="0">
              <a:buNone/>
            </a:pPr>
            <a:r>
              <a:rPr lang="en-US" sz="1300" b="1" dirty="0">
                <a:solidFill>
                  <a:srgbClr val="0D1B3E"/>
                </a:solidFill>
                <a:latin typeface="Trebuchet MS" pitchFamily="34" charset="0"/>
                <a:ea typeface="Trebuchet MS" pitchFamily="34" charset="-122"/>
                <a:cs typeface="Trebuchet MS" pitchFamily="34" charset="-120"/>
              </a:rPr>
              <a:t>Conclusion</a:t>
            </a:r>
            <a:endParaRPr lang="en-US" sz="1300" dirty="0"/>
          </a:p>
        </p:txBody>
      </p:sp>
      <p:sp>
        <p:nvSpPr>
          <p:cNvPr id="34" name="Text 32"/>
          <p:cNvSpPr/>
          <p:nvPr/>
        </p:nvSpPr>
        <p:spPr>
          <a:xfrm>
            <a:off x="5230368" y="2350008"/>
            <a:ext cx="3547872"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Key findings &amp; business insights</a:t>
            </a:r>
            <a:endParaRPr lang="en-US" sz="1000" dirty="0"/>
          </a:p>
        </p:txBody>
      </p:sp>
      <p:sp>
        <p:nvSpPr>
          <p:cNvPr id="35" name="Shape 33"/>
          <p:cNvSpPr/>
          <p:nvPr/>
        </p:nvSpPr>
        <p:spPr>
          <a:xfrm>
            <a:off x="4754880" y="2971800"/>
            <a:ext cx="4114800" cy="841248"/>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36" name="Shape 34"/>
          <p:cNvSpPr/>
          <p:nvPr/>
        </p:nvSpPr>
        <p:spPr>
          <a:xfrm>
            <a:off x="4754880" y="2971800"/>
            <a:ext cx="411480" cy="841248"/>
          </a:xfrm>
          <a:prstGeom prst="rect">
            <a:avLst/>
          </a:prstGeom>
          <a:solidFill>
            <a:srgbClr val="0D1B3E"/>
          </a:solidFill>
          <a:ln/>
        </p:spPr>
      </p:sp>
      <p:sp>
        <p:nvSpPr>
          <p:cNvPr id="37" name="Text 35"/>
          <p:cNvSpPr/>
          <p:nvPr/>
        </p:nvSpPr>
        <p:spPr>
          <a:xfrm>
            <a:off x="4754880" y="2971800"/>
            <a:ext cx="411480" cy="841248"/>
          </a:xfrm>
          <a:prstGeom prst="rect">
            <a:avLst/>
          </a:prstGeom>
          <a:noFill/>
          <a:ln/>
        </p:spPr>
        <p:txBody>
          <a:bodyPr wrap="square" lIns="0" tIns="0" rIns="0" bIns="0" rtlCol="0" anchor="ctr"/>
          <a:lstStyle/>
          <a:p>
            <a:pPr algn="ctr" indent="0" marL="0">
              <a:buNone/>
            </a:pPr>
            <a:r>
              <a:rPr lang="en-US" sz="1300" b="1" dirty="0">
                <a:solidFill>
                  <a:srgbClr val="F59E0B"/>
                </a:solidFill>
                <a:latin typeface="Trebuchet MS" pitchFamily="34" charset="0"/>
                <a:ea typeface="Trebuchet MS" pitchFamily="34" charset="-122"/>
                <a:cs typeface="Trebuchet MS" pitchFamily="34" charset="-120"/>
              </a:rPr>
              <a:t>07</a:t>
            </a:r>
            <a:endParaRPr lang="en-US" sz="1300" dirty="0"/>
          </a:p>
        </p:txBody>
      </p:sp>
      <p:sp>
        <p:nvSpPr>
          <p:cNvPr id="38" name="Text 36"/>
          <p:cNvSpPr/>
          <p:nvPr/>
        </p:nvSpPr>
        <p:spPr>
          <a:xfrm>
            <a:off x="5230368" y="3035808"/>
            <a:ext cx="3547872" cy="292608"/>
          </a:xfrm>
          <a:prstGeom prst="rect">
            <a:avLst/>
          </a:prstGeom>
          <a:noFill/>
          <a:ln/>
        </p:spPr>
        <p:txBody>
          <a:bodyPr wrap="square" lIns="0" tIns="0" rIns="0" bIns="0" rtlCol="0" anchor="ctr"/>
          <a:lstStyle/>
          <a:p>
            <a:pPr indent="0" marL="0">
              <a:buNone/>
            </a:pPr>
            <a:r>
              <a:rPr lang="en-US" sz="1300" b="1" dirty="0">
                <a:solidFill>
                  <a:srgbClr val="0D1B3E"/>
                </a:solidFill>
                <a:latin typeface="Trebuchet MS" pitchFamily="34" charset="0"/>
                <a:ea typeface="Trebuchet MS" pitchFamily="34" charset="-122"/>
                <a:cs typeface="Trebuchet MS" pitchFamily="34" charset="-120"/>
              </a:rPr>
              <a:t>Future Scope</a:t>
            </a:r>
            <a:endParaRPr lang="en-US" sz="1300" dirty="0"/>
          </a:p>
        </p:txBody>
      </p:sp>
      <p:sp>
        <p:nvSpPr>
          <p:cNvPr id="39" name="Text 37"/>
          <p:cNvSpPr/>
          <p:nvPr/>
        </p:nvSpPr>
        <p:spPr>
          <a:xfrm>
            <a:off x="5230368" y="3355848"/>
            <a:ext cx="3547872"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Enhancements &amp; advanced analytics</a:t>
            </a:r>
            <a:endParaRPr lang="en-US" sz="1000" dirty="0"/>
          </a:p>
        </p:txBody>
      </p:sp>
      <p:sp>
        <p:nvSpPr>
          <p:cNvPr id="40" name="Shape 38"/>
          <p:cNvSpPr/>
          <p:nvPr/>
        </p:nvSpPr>
        <p:spPr>
          <a:xfrm>
            <a:off x="4754880" y="3977640"/>
            <a:ext cx="4114800" cy="841248"/>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41" name="Shape 39"/>
          <p:cNvSpPr/>
          <p:nvPr/>
        </p:nvSpPr>
        <p:spPr>
          <a:xfrm>
            <a:off x="4754880" y="3977640"/>
            <a:ext cx="411480" cy="841248"/>
          </a:xfrm>
          <a:prstGeom prst="rect">
            <a:avLst/>
          </a:prstGeom>
          <a:solidFill>
            <a:srgbClr val="0D1B3E"/>
          </a:solidFill>
          <a:ln/>
        </p:spPr>
      </p:sp>
      <p:sp>
        <p:nvSpPr>
          <p:cNvPr id="42" name="Text 40"/>
          <p:cNvSpPr/>
          <p:nvPr/>
        </p:nvSpPr>
        <p:spPr>
          <a:xfrm>
            <a:off x="4754880" y="3977640"/>
            <a:ext cx="411480" cy="841248"/>
          </a:xfrm>
          <a:prstGeom prst="rect">
            <a:avLst/>
          </a:prstGeom>
          <a:noFill/>
          <a:ln/>
        </p:spPr>
        <p:txBody>
          <a:bodyPr wrap="square" lIns="0" tIns="0" rIns="0" bIns="0" rtlCol="0" anchor="ctr"/>
          <a:lstStyle/>
          <a:p>
            <a:pPr algn="ctr" indent="0" marL="0">
              <a:buNone/>
            </a:pPr>
            <a:r>
              <a:rPr lang="en-US" sz="1300" b="1" dirty="0">
                <a:solidFill>
                  <a:srgbClr val="F59E0B"/>
                </a:solidFill>
                <a:latin typeface="Trebuchet MS" pitchFamily="34" charset="0"/>
                <a:ea typeface="Trebuchet MS" pitchFamily="34" charset="-122"/>
                <a:cs typeface="Trebuchet MS" pitchFamily="34" charset="-120"/>
              </a:rPr>
              <a:t>08</a:t>
            </a:r>
            <a:endParaRPr lang="en-US" sz="1300" dirty="0"/>
          </a:p>
        </p:txBody>
      </p:sp>
      <p:sp>
        <p:nvSpPr>
          <p:cNvPr id="43" name="Text 41"/>
          <p:cNvSpPr/>
          <p:nvPr/>
        </p:nvSpPr>
        <p:spPr>
          <a:xfrm>
            <a:off x="5230368" y="4041648"/>
            <a:ext cx="3547872" cy="292608"/>
          </a:xfrm>
          <a:prstGeom prst="rect">
            <a:avLst/>
          </a:prstGeom>
          <a:noFill/>
          <a:ln/>
        </p:spPr>
        <p:txBody>
          <a:bodyPr wrap="square" lIns="0" tIns="0" rIns="0" bIns="0" rtlCol="0" anchor="ctr"/>
          <a:lstStyle/>
          <a:p>
            <a:pPr indent="0" marL="0">
              <a:buNone/>
            </a:pPr>
            <a:r>
              <a:rPr lang="en-US" sz="1300" b="1" dirty="0">
                <a:solidFill>
                  <a:srgbClr val="0D1B3E"/>
                </a:solidFill>
                <a:latin typeface="Trebuchet MS" pitchFamily="34" charset="0"/>
                <a:ea typeface="Trebuchet MS" pitchFamily="34" charset="-122"/>
                <a:cs typeface="Trebuchet MS" pitchFamily="34" charset="-120"/>
              </a:rPr>
              <a:t>References</a:t>
            </a:r>
            <a:endParaRPr lang="en-US" sz="1300" dirty="0"/>
          </a:p>
        </p:txBody>
      </p:sp>
      <p:sp>
        <p:nvSpPr>
          <p:cNvPr id="44" name="Text 42"/>
          <p:cNvSpPr/>
          <p:nvPr/>
        </p:nvSpPr>
        <p:spPr>
          <a:xfrm>
            <a:off x="5230368" y="4361688"/>
            <a:ext cx="3547872"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Data source, tools &amp; documentation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Problem Statement</a:t>
            </a:r>
            <a:endParaRPr lang="en-US" sz="2200" dirty="0"/>
          </a:p>
        </p:txBody>
      </p:sp>
      <p:sp>
        <p:nvSpPr>
          <p:cNvPr id="4" name="Shape 2"/>
          <p:cNvSpPr/>
          <p:nvPr/>
        </p:nvSpPr>
        <p:spPr>
          <a:xfrm>
            <a:off x="0" y="685800"/>
            <a:ext cx="9144000" cy="54864"/>
          </a:xfrm>
          <a:prstGeom prst="rect">
            <a:avLst/>
          </a:prstGeom>
          <a:solidFill>
            <a:srgbClr val="0891B2"/>
          </a:solidFill>
          <a:ln/>
        </p:spPr>
      </p:sp>
      <p:sp>
        <p:nvSpPr>
          <p:cNvPr id="5" name="Text 3"/>
          <p:cNvSpPr/>
          <p:nvPr/>
        </p:nvSpPr>
        <p:spPr>
          <a:xfrm>
            <a:off x="365760" y="868680"/>
            <a:ext cx="8412480" cy="777240"/>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India's UPI ecosystem processes hundreds of millions of transactions monthly, yet organisations lack structured visibility into transaction trends, failure patterns, fraud distribution, and demographic behaviour. Raw transaction logs offer no actionable insight without analytical processing.</a:t>
            </a:r>
            <a:endParaRPr lang="en-US" sz="1250" dirty="0"/>
          </a:p>
        </p:txBody>
      </p:sp>
      <p:sp>
        <p:nvSpPr>
          <p:cNvPr id="6" name="Shape 4"/>
          <p:cNvSpPr/>
          <p:nvPr/>
        </p:nvSpPr>
        <p:spPr>
          <a:xfrm>
            <a:off x="274320" y="1691640"/>
            <a:ext cx="4160520" cy="123444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74320" y="1691640"/>
            <a:ext cx="4160520" cy="329184"/>
          </a:xfrm>
          <a:prstGeom prst="rect">
            <a:avLst/>
          </a:prstGeom>
          <a:solidFill>
            <a:srgbClr val="1A56DB"/>
          </a:solidFill>
          <a:ln/>
        </p:spPr>
      </p:sp>
      <p:sp>
        <p:nvSpPr>
          <p:cNvPr id="8" name="Text 6"/>
          <p:cNvSpPr/>
          <p:nvPr/>
        </p:nvSpPr>
        <p:spPr>
          <a:xfrm>
            <a:off x="365760" y="1691640"/>
            <a:ext cx="3977640" cy="32918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01  No Transaction Visibility</a:t>
            </a:r>
            <a:endParaRPr lang="en-US" sz="1200" dirty="0"/>
          </a:p>
        </p:txBody>
      </p:sp>
      <p:sp>
        <p:nvSpPr>
          <p:cNvPr id="9" name="Text 7"/>
          <p:cNvSpPr/>
          <p:nvPr/>
        </p:nvSpPr>
        <p:spPr>
          <a:xfrm>
            <a:off x="384048" y="2075688"/>
            <a:ext cx="3931920" cy="7772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No centralised view of monthly volume, peak periods, or growth trends across the 250K-row dataset.</a:t>
            </a:r>
            <a:endParaRPr lang="en-US" sz="1100" dirty="0"/>
          </a:p>
        </p:txBody>
      </p:sp>
      <p:sp>
        <p:nvSpPr>
          <p:cNvPr id="10" name="Shape 8"/>
          <p:cNvSpPr/>
          <p:nvPr/>
        </p:nvSpPr>
        <p:spPr>
          <a:xfrm>
            <a:off x="4709160" y="1691640"/>
            <a:ext cx="4160520" cy="123444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709160" y="1691640"/>
            <a:ext cx="4160520" cy="329184"/>
          </a:xfrm>
          <a:prstGeom prst="rect">
            <a:avLst/>
          </a:prstGeom>
          <a:solidFill>
            <a:srgbClr val="EF4444"/>
          </a:solidFill>
          <a:ln/>
        </p:spPr>
      </p:sp>
      <p:sp>
        <p:nvSpPr>
          <p:cNvPr id="12" name="Text 10"/>
          <p:cNvSpPr/>
          <p:nvPr/>
        </p:nvSpPr>
        <p:spPr>
          <a:xfrm>
            <a:off x="4800600" y="1691640"/>
            <a:ext cx="3977640" cy="32918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02  Fraud Identification Gap</a:t>
            </a:r>
            <a:endParaRPr lang="en-US" sz="1200" dirty="0"/>
          </a:p>
        </p:txBody>
      </p:sp>
      <p:sp>
        <p:nvSpPr>
          <p:cNvPr id="13" name="Text 11"/>
          <p:cNvSpPr/>
          <p:nvPr/>
        </p:nvSpPr>
        <p:spPr>
          <a:xfrm>
            <a:off x="4818888" y="2075688"/>
            <a:ext cx="3931920" cy="7772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Fraud_Flag &amp; Transaction_Status columns existed but no measure combined them to identify high-risk segments.</a:t>
            </a:r>
            <a:endParaRPr lang="en-US" sz="1100" dirty="0"/>
          </a:p>
        </p:txBody>
      </p:sp>
      <p:sp>
        <p:nvSpPr>
          <p:cNvPr id="14" name="Shape 12"/>
          <p:cNvSpPr/>
          <p:nvPr/>
        </p:nvSpPr>
        <p:spPr>
          <a:xfrm>
            <a:off x="274320" y="3108960"/>
            <a:ext cx="4160520" cy="123444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274320" y="3108960"/>
            <a:ext cx="4160520" cy="329184"/>
          </a:xfrm>
          <a:prstGeom prst="rect">
            <a:avLst/>
          </a:prstGeom>
          <a:solidFill>
            <a:srgbClr val="0891B2"/>
          </a:solidFill>
          <a:ln/>
        </p:spPr>
      </p:sp>
      <p:sp>
        <p:nvSpPr>
          <p:cNvPr id="16" name="Text 14"/>
          <p:cNvSpPr/>
          <p:nvPr/>
        </p:nvSpPr>
        <p:spPr>
          <a:xfrm>
            <a:off x="365760" y="3108960"/>
            <a:ext cx="3977640" cy="32918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03  Fragmented Demographic Data</a:t>
            </a:r>
            <a:endParaRPr lang="en-US" sz="1200" dirty="0"/>
          </a:p>
        </p:txBody>
      </p:sp>
      <p:sp>
        <p:nvSpPr>
          <p:cNvPr id="17" name="Text 15"/>
          <p:cNvSpPr/>
          <p:nvPr/>
        </p:nvSpPr>
        <p:spPr>
          <a:xfrm>
            <a:off x="384048" y="3493008"/>
            <a:ext cx="3931920" cy="7772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Age group and bank-level transaction patterns were buried in raw rows with no aggregation or filtering.</a:t>
            </a:r>
            <a:endParaRPr lang="en-US" sz="1100" dirty="0"/>
          </a:p>
        </p:txBody>
      </p:sp>
      <p:sp>
        <p:nvSpPr>
          <p:cNvPr id="18" name="Shape 16"/>
          <p:cNvSpPr/>
          <p:nvPr/>
        </p:nvSpPr>
        <p:spPr>
          <a:xfrm>
            <a:off x="4709160" y="3108960"/>
            <a:ext cx="4160520" cy="123444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4709160" y="3108960"/>
            <a:ext cx="4160520" cy="329184"/>
          </a:xfrm>
          <a:prstGeom prst="rect">
            <a:avLst/>
          </a:prstGeom>
          <a:solidFill>
            <a:srgbClr val="F59E0B"/>
          </a:solidFill>
          <a:ln/>
        </p:spPr>
      </p:sp>
      <p:sp>
        <p:nvSpPr>
          <p:cNvPr id="20" name="Text 18"/>
          <p:cNvSpPr/>
          <p:nvPr/>
        </p:nvSpPr>
        <p:spPr>
          <a:xfrm>
            <a:off x="4800600" y="3108960"/>
            <a:ext cx="3977640" cy="32918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04  No Actionable KPIs</a:t>
            </a:r>
            <a:endParaRPr lang="en-US" sz="1200" dirty="0"/>
          </a:p>
        </p:txBody>
      </p:sp>
      <p:sp>
        <p:nvSpPr>
          <p:cNvPr id="21" name="Text 19"/>
          <p:cNvSpPr/>
          <p:nvPr/>
        </p:nvSpPr>
        <p:spPr>
          <a:xfrm>
            <a:off x="4818888" y="3493008"/>
            <a:ext cx="3931920" cy="7772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Critical metrics — Success Rate %, Failed Rate %, MoM Growth %, Peak Month — were absent and needed DAX.</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Proposed Solution</a:t>
            </a:r>
            <a:endParaRPr lang="en-US" sz="2200" dirty="0"/>
          </a:p>
        </p:txBody>
      </p:sp>
      <p:sp>
        <p:nvSpPr>
          <p:cNvPr id="4" name="Shape 2"/>
          <p:cNvSpPr/>
          <p:nvPr/>
        </p:nvSpPr>
        <p:spPr>
          <a:xfrm>
            <a:off x="0" y="685800"/>
            <a:ext cx="9144000" cy="54864"/>
          </a:xfrm>
          <a:prstGeom prst="rect">
            <a:avLst/>
          </a:prstGeom>
          <a:solidFill>
            <a:srgbClr val="0891B2"/>
          </a:solidFill>
          <a:ln/>
        </p:spPr>
      </p:sp>
      <p:sp>
        <p:nvSpPr>
          <p:cNvPr id="5" name="Text 3"/>
          <p:cNvSpPr/>
          <p:nvPr/>
        </p:nvSpPr>
        <p:spPr>
          <a:xfrm>
            <a:off x="365760" y="822960"/>
            <a:ext cx="8412480" cy="502920"/>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A 3-page interactive Power BI dashboard built on 250,000 UPI transaction records, delivering executive summaries, transaction behaviour analytics, and fraud risk intelligence.</a:t>
            </a:r>
            <a:endParaRPr lang="en-US" sz="1250" dirty="0"/>
          </a:p>
        </p:txBody>
      </p:sp>
      <p:sp>
        <p:nvSpPr>
          <p:cNvPr id="6" name="Shape 4"/>
          <p:cNvSpPr/>
          <p:nvPr/>
        </p:nvSpPr>
        <p:spPr>
          <a:xfrm>
            <a:off x="274320" y="1463040"/>
            <a:ext cx="2743200" cy="333756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74320" y="1463040"/>
            <a:ext cx="2743200" cy="457200"/>
          </a:xfrm>
          <a:prstGeom prst="rect">
            <a:avLst/>
          </a:prstGeom>
          <a:solidFill>
            <a:srgbClr val="0D1B3E"/>
          </a:solidFill>
          <a:ln/>
        </p:spPr>
      </p:sp>
      <p:sp>
        <p:nvSpPr>
          <p:cNvPr id="8" name="Text 6"/>
          <p:cNvSpPr/>
          <p:nvPr/>
        </p:nvSpPr>
        <p:spPr>
          <a:xfrm>
            <a:off x="365760" y="1463040"/>
            <a:ext cx="256032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Page 1</a:t>
            </a:r>
            <a:endParaRPr lang="en-US" sz="1000" dirty="0"/>
          </a:p>
        </p:txBody>
      </p:sp>
      <p:sp>
        <p:nvSpPr>
          <p:cNvPr id="9" name="Text 7"/>
          <p:cNvSpPr/>
          <p:nvPr/>
        </p:nvSpPr>
        <p:spPr>
          <a:xfrm>
            <a:off x="365760" y="1682496"/>
            <a:ext cx="2560320" cy="23774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UPI Executive Summary</a:t>
            </a:r>
            <a:endParaRPr lang="en-US" sz="1200" dirty="0"/>
          </a:p>
        </p:txBody>
      </p:sp>
      <p:sp>
        <p:nvSpPr>
          <p:cNvPr id="10" name="Text 8"/>
          <p:cNvSpPr/>
          <p:nvPr/>
        </p:nvSpPr>
        <p:spPr>
          <a:xfrm>
            <a:off x="365760" y="2029968"/>
            <a:ext cx="2542032" cy="59436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5 KPI cards: Total Transactions, Total Amount, Avg Value, Successful Txns, Fraud Flagged</a:t>
            </a:r>
            <a:endParaRPr lang="en-US" sz="1050" dirty="0"/>
          </a:p>
        </p:txBody>
      </p:sp>
      <p:sp>
        <p:nvSpPr>
          <p:cNvPr id="11" name="Text 9"/>
          <p:cNvSpPr/>
          <p:nvPr/>
        </p:nvSpPr>
        <p:spPr>
          <a:xfrm>
            <a:off x="365760" y="2688336"/>
            <a:ext cx="2542032" cy="59436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2 monthly line charts: Transaction Volume &amp; Amount INR</a:t>
            </a:r>
            <a:endParaRPr lang="en-US" sz="1050" dirty="0"/>
          </a:p>
        </p:txBody>
      </p:sp>
      <p:sp>
        <p:nvSpPr>
          <p:cNvPr id="12" name="Text 10"/>
          <p:cNvSpPr/>
          <p:nvPr/>
        </p:nvSpPr>
        <p:spPr>
          <a:xfrm>
            <a:off x="365760" y="3346704"/>
            <a:ext cx="2542032" cy="59436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4 callout cards: Peak Month, Highest Value Month, Lowest Month, MoM Growth %</a:t>
            </a:r>
            <a:endParaRPr lang="en-US" sz="1050" dirty="0"/>
          </a:p>
        </p:txBody>
      </p:sp>
      <p:sp>
        <p:nvSpPr>
          <p:cNvPr id="13" name="Text 11"/>
          <p:cNvSpPr/>
          <p:nvPr/>
        </p:nvSpPr>
        <p:spPr>
          <a:xfrm>
            <a:off x="365760" y="4005072"/>
            <a:ext cx="2542032" cy="59436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Full-width Month slicer for date filtering</a:t>
            </a:r>
            <a:endParaRPr lang="en-US" sz="1050" dirty="0"/>
          </a:p>
        </p:txBody>
      </p:sp>
      <p:sp>
        <p:nvSpPr>
          <p:cNvPr id="14" name="Shape 12"/>
          <p:cNvSpPr/>
          <p:nvPr/>
        </p:nvSpPr>
        <p:spPr>
          <a:xfrm>
            <a:off x="3200400" y="1463040"/>
            <a:ext cx="2743200" cy="333756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3200400" y="1463040"/>
            <a:ext cx="2743200" cy="457200"/>
          </a:xfrm>
          <a:prstGeom prst="rect">
            <a:avLst/>
          </a:prstGeom>
          <a:solidFill>
            <a:srgbClr val="0891B2"/>
          </a:solidFill>
          <a:ln/>
        </p:spPr>
      </p:sp>
      <p:sp>
        <p:nvSpPr>
          <p:cNvPr id="16" name="Text 14"/>
          <p:cNvSpPr/>
          <p:nvPr/>
        </p:nvSpPr>
        <p:spPr>
          <a:xfrm>
            <a:off x="3291840" y="1463040"/>
            <a:ext cx="256032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Page 2</a:t>
            </a:r>
            <a:endParaRPr lang="en-US" sz="1000" dirty="0"/>
          </a:p>
        </p:txBody>
      </p:sp>
      <p:sp>
        <p:nvSpPr>
          <p:cNvPr id="17" name="Text 15"/>
          <p:cNvSpPr/>
          <p:nvPr/>
        </p:nvSpPr>
        <p:spPr>
          <a:xfrm>
            <a:off x="3291840" y="1682496"/>
            <a:ext cx="2560320" cy="23774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Transaction Analysis</a:t>
            </a:r>
            <a:endParaRPr lang="en-US" sz="1200" dirty="0"/>
          </a:p>
        </p:txBody>
      </p:sp>
      <p:sp>
        <p:nvSpPr>
          <p:cNvPr id="18" name="Text 16"/>
          <p:cNvSpPr/>
          <p:nvPr/>
        </p:nvSpPr>
        <p:spPr>
          <a:xfrm>
            <a:off x="3291840" y="2029968"/>
            <a:ext cx="2542032" cy="59436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Age Group slicer for demographic filtering</a:t>
            </a:r>
            <a:endParaRPr lang="en-US" sz="1050" dirty="0"/>
          </a:p>
        </p:txBody>
      </p:sp>
      <p:sp>
        <p:nvSpPr>
          <p:cNvPr id="19" name="Text 17"/>
          <p:cNvSpPr/>
          <p:nvPr/>
        </p:nvSpPr>
        <p:spPr>
          <a:xfrm>
            <a:off x="3291840" y="2688336"/>
            <a:ext cx="2542032" cy="59436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Top 10 States horizontal bar chart</a:t>
            </a:r>
            <a:endParaRPr lang="en-US" sz="1050" dirty="0"/>
          </a:p>
        </p:txBody>
      </p:sp>
      <p:sp>
        <p:nvSpPr>
          <p:cNvPr id="20" name="Text 18"/>
          <p:cNvSpPr/>
          <p:nvPr/>
        </p:nvSpPr>
        <p:spPr>
          <a:xfrm>
            <a:off x="3291840" y="3346704"/>
            <a:ext cx="2542032" cy="59436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Transaction Type, Device Type, Network Type donuts</a:t>
            </a:r>
            <a:endParaRPr lang="en-US" sz="1050" dirty="0"/>
          </a:p>
        </p:txBody>
      </p:sp>
      <p:sp>
        <p:nvSpPr>
          <p:cNvPr id="21" name="Text 19"/>
          <p:cNvSpPr/>
          <p:nvPr/>
        </p:nvSpPr>
        <p:spPr>
          <a:xfrm>
            <a:off x="3291840" y="4005072"/>
            <a:ext cx="2542032" cy="59436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Age Group × Amount INR bar showing spending patterns</a:t>
            </a:r>
            <a:endParaRPr lang="en-US" sz="1050" dirty="0"/>
          </a:p>
        </p:txBody>
      </p:sp>
      <p:sp>
        <p:nvSpPr>
          <p:cNvPr id="22" name="Shape 20"/>
          <p:cNvSpPr/>
          <p:nvPr/>
        </p:nvSpPr>
        <p:spPr>
          <a:xfrm>
            <a:off x="6126480" y="1463040"/>
            <a:ext cx="2743200" cy="333756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6126480" y="1463040"/>
            <a:ext cx="2743200" cy="457200"/>
          </a:xfrm>
          <a:prstGeom prst="rect">
            <a:avLst/>
          </a:prstGeom>
          <a:solidFill>
            <a:srgbClr val="EF4444"/>
          </a:solidFill>
          <a:ln/>
        </p:spPr>
      </p:sp>
      <p:sp>
        <p:nvSpPr>
          <p:cNvPr id="24" name="Text 22"/>
          <p:cNvSpPr/>
          <p:nvPr/>
        </p:nvSpPr>
        <p:spPr>
          <a:xfrm>
            <a:off x="6217920" y="1463040"/>
            <a:ext cx="256032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Page 3</a:t>
            </a:r>
            <a:endParaRPr lang="en-US" sz="1000" dirty="0"/>
          </a:p>
        </p:txBody>
      </p:sp>
      <p:sp>
        <p:nvSpPr>
          <p:cNvPr id="25" name="Text 23"/>
          <p:cNvSpPr/>
          <p:nvPr/>
        </p:nvSpPr>
        <p:spPr>
          <a:xfrm>
            <a:off x="6217920" y="1682496"/>
            <a:ext cx="2560320" cy="23774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Fraud Analysis</a:t>
            </a:r>
            <a:endParaRPr lang="en-US" sz="1200" dirty="0"/>
          </a:p>
        </p:txBody>
      </p:sp>
      <p:sp>
        <p:nvSpPr>
          <p:cNvPr id="26" name="Text 24"/>
          <p:cNvSpPr/>
          <p:nvPr/>
        </p:nvSpPr>
        <p:spPr>
          <a:xfrm>
            <a:off x="6217920" y="2029968"/>
            <a:ext cx="2542032" cy="59436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Fraud Flagged &amp; Failed Rate % KPI cards</a:t>
            </a:r>
            <a:endParaRPr lang="en-US" sz="1050" dirty="0"/>
          </a:p>
        </p:txBody>
      </p:sp>
      <p:sp>
        <p:nvSpPr>
          <p:cNvPr id="27" name="Text 25"/>
          <p:cNvSpPr/>
          <p:nvPr/>
        </p:nvSpPr>
        <p:spPr>
          <a:xfrm>
            <a:off x="6217920" y="2688336"/>
            <a:ext cx="2542032" cy="59436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Merchant Category × Fraud Flag combo chart</a:t>
            </a:r>
            <a:endParaRPr lang="en-US" sz="1050" dirty="0"/>
          </a:p>
        </p:txBody>
      </p:sp>
      <p:sp>
        <p:nvSpPr>
          <p:cNvPr id="28" name="Text 26"/>
          <p:cNvSpPr/>
          <p:nvPr/>
        </p:nvSpPr>
        <p:spPr>
          <a:xfrm>
            <a:off x="6217920" y="3346704"/>
            <a:ext cx="2542032" cy="59436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Top 10 States by fraud cases</a:t>
            </a:r>
            <a:endParaRPr lang="en-US" sz="1050" dirty="0"/>
          </a:p>
        </p:txBody>
      </p:sp>
      <p:sp>
        <p:nvSpPr>
          <p:cNvPr id="29" name="Text 27"/>
          <p:cNvSpPr/>
          <p:nvPr/>
        </p:nvSpPr>
        <p:spPr>
          <a:xfrm>
            <a:off x="6217920" y="4005072"/>
            <a:ext cx="2542032" cy="59436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Fraud breakdown by Transaction Type, Age Group &amp; Device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System Development Approach</a:t>
            </a:r>
            <a:endParaRPr lang="en-US" sz="2200" dirty="0"/>
          </a:p>
        </p:txBody>
      </p:sp>
      <p:sp>
        <p:nvSpPr>
          <p:cNvPr id="4" name="Shape 2"/>
          <p:cNvSpPr/>
          <p:nvPr/>
        </p:nvSpPr>
        <p:spPr>
          <a:xfrm>
            <a:off x="0" y="685800"/>
            <a:ext cx="9144000" cy="54864"/>
          </a:xfrm>
          <a:prstGeom prst="rect">
            <a:avLst/>
          </a:prstGeom>
          <a:solidFill>
            <a:srgbClr val="0891B2"/>
          </a:solidFill>
          <a:ln/>
        </p:spPr>
      </p:sp>
      <p:sp>
        <p:nvSpPr>
          <p:cNvPr id="5" name="Shape 3"/>
          <p:cNvSpPr/>
          <p:nvPr/>
        </p:nvSpPr>
        <p:spPr>
          <a:xfrm>
            <a:off x="274320" y="868680"/>
            <a:ext cx="8595360" cy="73152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868680"/>
            <a:ext cx="502920" cy="731520"/>
          </a:xfrm>
          <a:prstGeom prst="rect">
            <a:avLst/>
          </a:prstGeom>
          <a:solidFill>
            <a:srgbClr val="0D1B3E"/>
          </a:solidFill>
          <a:ln/>
        </p:spPr>
      </p:sp>
      <p:sp>
        <p:nvSpPr>
          <p:cNvPr id="7" name="Text 5"/>
          <p:cNvSpPr/>
          <p:nvPr/>
        </p:nvSpPr>
        <p:spPr>
          <a:xfrm>
            <a:off x="274320" y="868680"/>
            <a:ext cx="502920" cy="731520"/>
          </a:xfrm>
          <a:prstGeom prst="rect">
            <a:avLst/>
          </a:prstGeom>
          <a:noFill/>
          <a:ln/>
        </p:spPr>
        <p:txBody>
          <a:bodyPr wrap="square" lIns="0" tIns="0" rIns="0" bIns="0" rtlCol="0" anchor="ctr"/>
          <a:lstStyle/>
          <a:p>
            <a:pPr algn="ctr" indent="0" marL="0">
              <a:buNone/>
            </a:pPr>
            <a:r>
              <a:rPr lang="en-US" sz="1300" b="1" dirty="0">
                <a:solidFill>
                  <a:srgbClr val="F59E0B"/>
                </a:solidFill>
                <a:latin typeface="Trebuchet MS" pitchFamily="34" charset="0"/>
                <a:ea typeface="Trebuchet MS" pitchFamily="34" charset="-122"/>
                <a:cs typeface="Trebuchet MS" pitchFamily="34" charset="-120"/>
              </a:rPr>
              <a:t>01</a:t>
            </a:r>
            <a:endParaRPr lang="en-US" sz="1300" dirty="0"/>
          </a:p>
        </p:txBody>
      </p:sp>
      <p:sp>
        <p:nvSpPr>
          <p:cNvPr id="8" name="Text 6"/>
          <p:cNvSpPr/>
          <p:nvPr/>
        </p:nvSpPr>
        <p:spPr>
          <a:xfrm>
            <a:off x="868680" y="923544"/>
            <a:ext cx="1920240" cy="274320"/>
          </a:xfrm>
          <a:prstGeom prst="rect">
            <a:avLst/>
          </a:prstGeom>
          <a:noFill/>
          <a:ln/>
        </p:spPr>
        <p:txBody>
          <a:bodyPr wrap="square" lIns="0" tIns="0" rIns="0" bIns="0" rtlCol="0" anchor="ctr"/>
          <a:lstStyle/>
          <a:p>
            <a:pPr indent="0" marL="0">
              <a:buNone/>
            </a:pPr>
            <a:r>
              <a:rPr lang="en-US" sz="1200" b="1" dirty="0">
                <a:solidFill>
                  <a:srgbClr val="0D1B3E"/>
                </a:solidFill>
                <a:latin typeface="Trebuchet MS" pitchFamily="34" charset="0"/>
                <a:ea typeface="Trebuchet MS" pitchFamily="34" charset="-122"/>
                <a:cs typeface="Trebuchet MS" pitchFamily="34" charset="-120"/>
              </a:rPr>
              <a:t>Data Acquisition</a:t>
            </a:r>
            <a:endParaRPr lang="en-US" sz="1200" dirty="0"/>
          </a:p>
        </p:txBody>
      </p:sp>
      <p:sp>
        <p:nvSpPr>
          <p:cNvPr id="9" name="Text 7"/>
          <p:cNvSpPr/>
          <p:nvPr/>
        </p:nvSpPr>
        <p:spPr>
          <a:xfrm>
            <a:off x="868680" y="1216152"/>
            <a:ext cx="7863840" cy="329184"/>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250K-row UPI dataset sourced from Kaggle. Columns: Date, Amount_INR, Transaction_Status, Fraud_Flag, Is_Success, State, Merchant_Category, Device_Type, Network_Type, Sender_Age_Group, Sender_Bank, Receiver_Bank.</a:t>
            </a:r>
            <a:endParaRPr lang="en-US" sz="1050" dirty="0"/>
          </a:p>
        </p:txBody>
      </p:sp>
      <p:sp>
        <p:nvSpPr>
          <p:cNvPr id="10" name="Shape 8"/>
          <p:cNvSpPr/>
          <p:nvPr/>
        </p:nvSpPr>
        <p:spPr>
          <a:xfrm>
            <a:off x="274320" y="1709928"/>
            <a:ext cx="8595360" cy="73152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274320" y="1709928"/>
            <a:ext cx="502920" cy="731520"/>
          </a:xfrm>
          <a:prstGeom prst="rect">
            <a:avLst/>
          </a:prstGeom>
          <a:solidFill>
            <a:srgbClr val="0891B2"/>
          </a:solidFill>
          <a:ln/>
        </p:spPr>
      </p:sp>
      <p:sp>
        <p:nvSpPr>
          <p:cNvPr id="12" name="Text 10"/>
          <p:cNvSpPr/>
          <p:nvPr/>
        </p:nvSpPr>
        <p:spPr>
          <a:xfrm>
            <a:off x="274320" y="1709928"/>
            <a:ext cx="502920" cy="731520"/>
          </a:xfrm>
          <a:prstGeom prst="rect">
            <a:avLst/>
          </a:prstGeom>
          <a:noFill/>
          <a:ln/>
        </p:spPr>
        <p:txBody>
          <a:bodyPr wrap="square" lIns="0" tIns="0" rIns="0" bIns="0" rtlCol="0" anchor="ctr"/>
          <a:lstStyle/>
          <a:p>
            <a:pPr algn="ctr" indent="0" marL="0">
              <a:buNone/>
            </a:pPr>
            <a:r>
              <a:rPr lang="en-US" sz="1300" b="1" dirty="0">
                <a:solidFill>
                  <a:srgbClr val="F59E0B"/>
                </a:solidFill>
                <a:latin typeface="Trebuchet MS" pitchFamily="34" charset="0"/>
                <a:ea typeface="Trebuchet MS" pitchFamily="34" charset="-122"/>
                <a:cs typeface="Trebuchet MS" pitchFamily="34" charset="-120"/>
              </a:rPr>
              <a:t>02</a:t>
            </a:r>
            <a:endParaRPr lang="en-US" sz="1300" dirty="0"/>
          </a:p>
        </p:txBody>
      </p:sp>
      <p:sp>
        <p:nvSpPr>
          <p:cNvPr id="13" name="Text 11"/>
          <p:cNvSpPr/>
          <p:nvPr/>
        </p:nvSpPr>
        <p:spPr>
          <a:xfrm>
            <a:off x="868680" y="1764792"/>
            <a:ext cx="1920240" cy="274320"/>
          </a:xfrm>
          <a:prstGeom prst="rect">
            <a:avLst/>
          </a:prstGeom>
          <a:noFill/>
          <a:ln/>
        </p:spPr>
        <p:txBody>
          <a:bodyPr wrap="square" lIns="0" tIns="0" rIns="0" bIns="0" rtlCol="0" anchor="ctr"/>
          <a:lstStyle/>
          <a:p>
            <a:pPr indent="0" marL="0">
              <a:buNone/>
            </a:pPr>
            <a:r>
              <a:rPr lang="en-US" sz="1200" b="1" dirty="0">
                <a:solidFill>
                  <a:srgbClr val="0D1B3E"/>
                </a:solidFill>
                <a:latin typeface="Trebuchet MS" pitchFamily="34" charset="0"/>
                <a:ea typeface="Trebuchet MS" pitchFamily="34" charset="-122"/>
                <a:cs typeface="Trebuchet MS" pitchFamily="34" charset="-120"/>
              </a:rPr>
              <a:t>Power Query Cleaning</a:t>
            </a:r>
            <a:endParaRPr lang="en-US" sz="1200" dirty="0"/>
          </a:p>
        </p:txBody>
      </p:sp>
      <p:sp>
        <p:nvSpPr>
          <p:cNvPr id="14" name="Text 12"/>
          <p:cNvSpPr/>
          <p:nvPr/>
        </p:nvSpPr>
        <p:spPr>
          <a:xfrm>
            <a:off x="868680" y="2057400"/>
            <a:ext cx="7863840" cy="329184"/>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Loaded into Power BI via Power Query. Verified data types, removed nulls, confirmed 0/1 encoding for Fraud_Flag and Is_Success. Renamed typo column Transcation_Authenticity.</a:t>
            </a:r>
            <a:endParaRPr lang="en-US" sz="1050" dirty="0"/>
          </a:p>
        </p:txBody>
      </p:sp>
      <p:sp>
        <p:nvSpPr>
          <p:cNvPr id="15" name="Shape 13"/>
          <p:cNvSpPr/>
          <p:nvPr/>
        </p:nvSpPr>
        <p:spPr>
          <a:xfrm>
            <a:off x="274320" y="2551176"/>
            <a:ext cx="8595360" cy="73152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274320" y="2551176"/>
            <a:ext cx="502920" cy="731520"/>
          </a:xfrm>
          <a:prstGeom prst="rect">
            <a:avLst/>
          </a:prstGeom>
          <a:solidFill>
            <a:srgbClr val="0D1B3E"/>
          </a:solidFill>
          <a:ln/>
        </p:spPr>
      </p:sp>
      <p:sp>
        <p:nvSpPr>
          <p:cNvPr id="17" name="Text 15"/>
          <p:cNvSpPr/>
          <p:nvPr/>
        </p:nvSpPr>
        <p:spPr>
          <a:xfrm>
            <a:off x="274320" y="2551176"/>
            <a:ext cx="502920" cy="731520"/>
          </a:xfrm>
          <a:prstGeom prst="rect">
            <a:avLst/>
          </a:prstGeom>
          <a:noFill/>
          <a:ln/>
        </p:spPr>
        <p:txBody>
          <a:bodyPr wrap="square" lIns="0" tIns="0" rIns="0" bIns="0" rtlCol="0" anchor="ctr"/>
          <a:lstStyle/>
          <a:p>
            <a:pPr algn="ctr" indent="0" marL="0">
              <a:buNone/>
            </a:pPr>
            <a:r>
              <a:rPr lang="en-US" sz="1300" b="1" dirty="0">
                <a:solidFill>
                  <a:srgbClr val="F59E0B"/>
                </a:solidFill>
                <a:latin typeface="Trebuchet MS" pitchFamily="34" charset="0"/>
                <a:ea typeface="Trebuchet MS" pitchFamily="34" charset="-122"/>
                <a:cs typeface="Trebuchet MS" pitchFamily="34" charset="-120"/>
              </a:rPr>
              <a:t>03</a:t>
            </a:r>
            <a:endParaRPr lang="en-US" sz="1300" dirty="0"/>
          </a:p>
        </p:txBody>
      </p:sp>
      <p:sp>
        <p:nvSpPr>
          <p:cNvPr id="18" name="Text 16"/>
          <p:cNvSpPr/>
          <p:nvPr/>
        </p:nvSpPr>
        <p:spPr>
          <a:xfrm>
            <a:off x="868680" y="2606040"/>
            <a:ext cx="1920240" cy="274320"/>
          </a:xfrm>
          <a:prstGeom prst="rect">
            <a:avLst/>
          </a:prstGeom>
          <a:noFill/>
          <a:ln/>
        </p:spPr>
        <p:txBody>
          <a:bodyPr wrap="square" lIns="0" tIns="0" rIns="0" bIns="0" rtlCol="0" anchor="ctr"/>
          <a:lstStyle/>
          <a:p>
            <a:pPr indent="0" marL="0">
              <a:buNone/>
            </a:pPr>
            <a:r>
              <a:rPr lang="en-US" sz="1200" b="1" dirty="0">
                <a:solidFill>
                  <a:srgbClr val="0D1B3E"/>
                </a:solidFill>
                <a:latin typeface="Trebuchet MS" pitchFamily="34" charset="0"/>
                <a:ea typeface="Trebuchet MS" pitchFamily="34" charset="-122"/>
                <a:cs typeface="Trebuchet MS" pitchFamily="34" charset="-120"/>
              </a:rPr>
              <a:t>DAX Measures</a:t>
            </a:r>
            <a:endParaRPr lang="en-US" sz="1200" dirty="0"/>
          </a:p>
        </p:txBody>
      </p:sp>
      <p:sp>
        <p:nvSpPr>
          <p:cNvPr id="19" name="Text 17"/>
          <p:cNvSpPr/>
          <p:nvPr/>
        </p:nvSpPr>
        <p:spPr>
          <a:xfrm>
            <a:off x="868680" y="2898648"/>
            <a:ext cx="7863840" cy="329184"/>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Created 9 custom DAX measures: Total Transactions, Successful Transactions, Failed Transactions, Avg Transaction Value, Success Rate %, Failed Rate %, Fraud Flagged, MoM Growth %, Peak/Highest/Lowest Month.</a:t>
            </a:r>
            <a:endParaRPr lang="en-US" sz="1050" dirty="0"/>
          </a:p>
        </p:txBody>
      </p:sp>
      <p:sp>
        <p:nvSpPr>
          <p:cNvPr id="20" name="Shape 18"/>
          <p:cNvSpPr/>
          <p:nvPr/>
        </p:nvSpPr>
        <p:spPr>
          <a:xfrm>
            <a:off x="274320" y="3392424"/>
            <a:ext cx="8595360" cy="73152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274320" y="3392424"/>
            <a:ext cx="502920" cy="731520"/>
          </a:xfrm>
          <a:prstGeom prst="rect">
            <a:avLst/>
          </a:prstGeom>
          <a:solidFill>
            <a:srgbClr val="0891B2"/>
          </a:solidFill>
          <a:ln/>
        </p:spPr>
      </p:sp>
      <p:sp>
        <p:nvSpPr>
          <p:cNvPr id="22" name="Text 20"/>
          <p:cNvSpPr/>
          <p:nvPr/>
        </p:nvSpPr>
        <p:spPr>
          <a:xfrm>
            <a:off x="274320" y="3392424"/>
            <a:ext cx="502920" cy="731520"/>
          </a:xfrm>
          <a:prstGeom prst="rect">
            <a:avLst/>
          </a:prstGeom>
          <a:noFill/>
          <a:ln/>
        </p:spPr>
        <p:txBody>
          <a:bodyPr wrap="square" lIns="0" tIns="0" rIns="0" bIns="0" rtlCol="0" anchor="ctr"/>
          <a:lstStyle/>
          <a:p>
            <a:pPr algn="ctr" indent="0" marL="0">
              <a:buNone/>
            </a:pPr>
            <a:r>
              <a:rPr lang="en-US" sz="1300" b="1" dirty="0">
                <a:solidFill>
                  <a:srgbClr val="F59E0B"/>
                </a:solidFill>
                <a:latin typeface="Trebuchet MS" pitchFamily="34" charset="0"/>
                <a:ea typeface="Trebuchet MS" pitchFamily="34" charset="-122"/>
                <a:cs typeface="Trebuchet MS" pitchFamily="34" charset="-120"/>
              </a:rPr>
              <a:t>04</a:t>
            </a:r>
            <a:endParaRPr lang="en-US" sz="1300" dirty="0"/>
          </a:p>
        </p:txBody>
      </p:sp>
      <p:sp>
        <p:nvSpPr>
          <p:cNvPr id="23" name="Text 21"/>
          <p:cNvSpPr/>
          <p:nvPr/>
        </p:nvSpPr>
        <p:spPr>
          <a:xfrm>
            <a:off x="868680" y="3447288"/>
            <a:ext cx="1920240" cy="274320"/>
          </a:xfrm>
          <a:prstGeom prst="rect">
            <a:avLst/>
          </a:prstGeom>
          <a:noFill/>
          <a:ln/>
        </p:spPr>
        <p:txBody>
          <a:bodyPr wrap="square" lIns="0" tIns="0" rIns="0" bIns="0" rtlCol="0" anchor="ctr"/>
          <a:lstStyle/>
          <a:p>
            <a:pPr indent="0" marL="0">
              <a:buNone/>
            </a:pPr>
            <a:r>
              <a:rPr lang="en-US" sz="1200" b="1" dirty="0">
                <a:solidFill>
                  <a:srgbClr val="0D1B3E"/>
                </a:solidFill>
                <a:latin typeface="Trebuchet MS" pitchFamily="34" charset="0"/>
                <a:ea typeface="Trebuchet MS" pitchFamily="34" charset="-122"/>
                <a:cs typeface="Trebuchet MS" pitchFamily="34" charset="-120"/>
              </a:rPr>
              <a:t>Dashboard Design</a:t>
            </a:r>
            <a:endParaRPr lang="en-US" sz="1200" dirty="0"/>
          </a:p>
        </p:txBody>
      </p:sp>
      <p:sp>
        <p:nvSpPr>
          <p:cNvPr id="24" name="Text 22"/>
          <p:cNvSpPr/>
          <p:nvPr/>
        </p:nvSpPr>
        <p:spPr>
          <a:xfrm>
            <a:off x="868680" y="3739896"/>
            <a:ext cx="7863840" cy="329184"/>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Built 3-page layout on 1280×720 canvas. Each page: header banner, slicer row, KPI card row, 2 chart rows. Consistent theme, data labels on all bar charts, synced Age Group slicer.</a:t>
            </a:r>
            <a:endParaRPr lang="en-US" sz="1050" dirty="0"/>
          </a:p>
        </p:txBody>
      </p:sp>
      <p:sp>
        <p:nvSpPr>
          <p:cNvPr id="25" name="Shape 23"/>
          <p:cNvSpPr/>
          <p:nvPr/>
        </p:nvSpPr>
        <p:spPr>
          <a:xfrm>
            <a:off x="274320" y="4233672"/>
            <a:ext cx="8595360" cy="73152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274320" y="4233672"/>
            <a:ext cx="502920" cy="731520"/>
          </a:xfrm>
          <a:prstGeom prst="rect">
            <a:avLst/>
          </a:prstGeom>
          <a:solidFill>
            <a:srgbClr val="0D1B3E"/>
          </a:solidFill>
          <a:ln/>
        </p:spPr>
      </p:sp>
      <p:sp>
        <p:nvSpPr>
          <p:cNvPr id="27" name="Text 25"/>
          <p:cNvSpPr/>
          <p:nvPr/>
        </p:nvSpPr>
        <p:spPr>
          <a:xfrm>
            <a:off x="274320" y="4233672"/>
            <a:ext cx="502920" cy="731520"/>
          </a:xfrm>
          <a:prstGeom prst="rect">
            <a:avLst/>
          </a:prstGeom>
          <a:noFill/>
          <a:ln/>
        </p:spPr>
        <p:txBody>
          <a:bodyPr wrap="square" lIns="0" tIns="0" rIns="0" bIns="0" rtlCol="0" anchor="ctr"/>
          <a:lstStyle/>
          <a:p>
            <a:pPr algn="ctr" indent="0" marL="0">
              <a:buNone/>
            </a:pPr>
            <a:r>
              <a:rPr lang="en-US" sz="1300" b="1" dirty="0">
                <a:solidFill>
                  <a:srgbClr val="F59E0B"/>
                </a:solidFill>
                <a:latin typeface="Trebuchet MS" pitchFamily="34" charset="0"/>
                <a:ea typeface="Trebuchet MS" pitchFamily="34" charset="-122"/>
                <a:cs typeface="Trebuchet MS" pitchFamily="34" charset="-120"/>
              </a:rPr>
              <a:t>05</a:t>
            </a:r>
            <a:endParaRPr lang="en-US" sz="1300" dirty="0"/>
          </a:p>
        </p:txBody>
      </p:sp>
      <p:sp>
        <p:nvSpPr>
          <p:cNvPr id="28" name="Text 26"/>
          <p:cNvSpPr/>
          <p:nvPr/>
        </p:nvSpPr>
        <p:spPr>
          <a:xfrm>
            <a:off x="868680" y="4288536"/>
            <a:ext cx="1920240" cy="274320"/>
          </a:xfrm>
          <a:prstGeom prst="rect">
            <a:avLst/>
          </a:prstGeom>
          <a:noFill/>
          <a:ln/>
        </p:spPr>
        <p:txBody>
          <a:bodyPr wrap="square" lIns="0" tIns="0" rIns="0" bIns="0" rtlCol="0" anchor="ctr"/>
          <a:lstStyle/>
          <a:p>
            <a:pPr indent="0" marL="0">
              <a:buNone/>
            </a:pPr>
            <a:r>
              <a:rPr lang="en-US" sz="1200" b="1" dirty="0">
                <a:solidFill>
                  <a:srgbClr val="0D1B3E"/>
                </a:solidFill>
                <a:latin typeface="Trebuchet MS" pitchFamily="34" charset="0"/>
                <a:ea typeface="Trebuchet MS" pitchFamily="34" charset="-122"/>
                <a:cs typeface="Trebuchet MS" pitchFamily="34" charset="-120"/>
              </a:rPr>
              <a:t>Validation &amp; QA</a:t>
            </a:r>
            <a:endParaRPr lang="en-US" sz="1200" dirty="0"/>
          </a:p>
        </p:txBody>
      </p:sp>
      <p:sp>
        <p:nvSpPr>
          <p:cNvPr id="29" name="Text 27"/>
          <p:cNvSpPr/>
          <p:nvPr/>
        </p:nvSpPr>
        <p:spPr>
          <a:xfrm>
            <a:off x="868680" y="4581144"/>
            <a:ext cx="7863840" cy="329184"/>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Verified all measures against table view. Applied Top N filters for State charts. Confirmed card-to-chart consistency across all 3 pages. Added visual titles to all 30+ visuals.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DAX Measures &amp; Key Features</a:t>
            </a:r>
            <a:endParaRPr lang="en-US" sz="2200" dirty="0"/>
          </a:p>
        </p:txBody>
      </p:sp>
      <p:sp>
        <p:nvSpPr>
          <p:cNvPr id="4" name="Shape 2"/>
          <p:cNvSpPr/>
          <p:nvPr/>
        </p:nvSpPr>
        <p:spPr>
          <a:xfrm>
            <a:off x="0" y="685800"/>
            <a:ext cx="9144000" cy="54864"/>
          </a:xfrm>
          <a:prstGeom prst="rect">
            <a:avLst/>
          </a:prstGeom>
          <a:solidFill>
            <a:srgbClr val="0891B2"/>
          </a:solidFill>
          <a:ln/>
        </p:spPr>
      </p:sp>
      <p:sp>
        <p:nvSpPr>
          <p:cNvPr id="5" name="Text 3"/>
          <p:cNvSpPr/>
          <p:nvPr/>
        </p:nvSpPr>
        <p:spPr>
          <a:xfrm>
            <a:off x="274320" y="868680"/>
            <a:ext cx="4389120" cy="320040"/>
          </a:xfrm>
          <a:prstGeom prst="rect">
            <a:avLst/>
          </a:prstGeom>
          <a:noFill/>
          <a:ln/>
        </p:spPr>
        <p:txBody>
          <a:bodyPr wrap="square" lIns="0" tIns="0" rIns="0" bIns="0" rtlCol="0" anchor="ctr"/>
          <a:lstStyle/>
          <a:p>
            <a:pPr indent="0" marL="0">
              <a:buNone/>
            </a:pPr>
            <a:r>
              <a:rPr lang="en-US" sz="1300" b="1" dirty="0">
                <a:solidFill>
                  <a:srgbClr val="0D1B3E"/>
                </a:solidFill>
                <a:latin typeface="Trebuchet MS" pitchFamily="34" charset="0"/>
                <a:ea typeface="Trebuchet MS" pitchFamily="34" charset="-122"/>
                <a:cs typeface="Trebuchet MS" pitchFamily="34" charset="-120"/>
              </a:rPr>
              <a:t>9 Custom DAX Measures Created</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234440"/>
          <a:ext cx="4572000" cy="3566160"/>
        </p:xfrm>
        <a:graphic>
          <a:graphicData uri="http://schemas.openxmlformats.org/drawingml/2006/table">
            <a:tbl>
              <a:tblPr/>
              <a:tblGrid>
                <a:gridCol w="1737360"/>
                <a:gridCol w="1554480"/>
                <a:gridCol w="1280160"/>
              </a:tblGrid>
              <a:tr h="347472">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Measure</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Formula Logic</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Used On</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Total Transactions</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COUNTROWS(table)</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All pages</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Successful Transactions</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CALCULATE + Is_Success=1</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Page 1</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Failed Transactions</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CALCULATE + Status='Failed'</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Pages 2, 3</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Avg Transaction Value</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AVERAGE(Amount_INR)</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Page 1</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Success Rate %</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DIVIDE([Successful],[Total])</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Pages 2, 3</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Failed Rate %</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DIVIDE([Failed],[Total])</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Page 3</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Fraud Flagged</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SUM(Fraud_Flag)</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Pages 1, 2, 3</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MoM Growth %</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DATEADD(Date,-1,MONTH)</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Page 1</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Peak / High / Low Month</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MAXX + TOPN + SWITCH</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Page 1</a:t>
                      </a:r>
                      <a:endParaRPr lang="en-US" sz="1000" dirty="0">
                        <a:latin typeface="Calibri" charset="0"/>
                        <a:ea typeface="Calibri" charset="0"/>
                        <a:cs typeface="Calibri" charset="0"/>
                      </a:endParaRPr>
                    </a:p>
                  </a:txBody>
                  <a:tcPr marL="91440" marR="91440" marT="45720" marB="45720">
                    <a:lnL w="6350" cap="flat" cmpd="sng" algn="ctr">
                      <a:solidFill>
                        <a:srgbClr val="D1E3FF"/>
                      </a:solidFill>
                      <a:prstDash val="solid"/>
                      <a:round/>
                      <a:headEnd type="none" w="med" len="med"/>
                      <a:tailEnd type="none" w="med" len="med"/>
                    </a:lnL>
                    <a:lnR w="6350" cap="flat" cmpd="sng" algn="ctr">
                      <a:solidFill>
                        <a:srgbClr val="D1E3FF"/>
                      </a:solidFill>
                      <a:prstDash val="solid"/>
                      <a:round/>
                      <a:headEnd type="none" w="med" len="med"/>
                      <a:tailEnd type="none" w="med" len="med"/>
                    </a:lnR>
                    <a:lnT w="6350" cap="flat" cmpd="sng" algn="ctr">
                      <a:solidFill>
                        <a:srgbClr val="D1E3FF"/>
                      </a:solidFill>
                      <a:prstDash val="solid"/>
                      <a:round/>
                      <a:headEnd type="none" w="med" len="med"/>
                      <a:tailEnd type="none" w="med" len="med"/>
                    </a:lnT>
                    <a:lnB w="6350" cap="flat" cmpd="sng" algn="ctr">
                      <a:solidFill>
                        <a:srgbClr val="D1E3FF"/>
                      </a:solidFill>
                      <a:prstDash val="solid"/>
                      <a:round/>
                      <a:headEnd type="none" w="med" len="med"/>
                      <a:tailEnd type="none" w="med" len="med"/>
                    </a:lnB>
                    <a:solidFill>
                      <a:srgbClr val="FFFFFF"/>
                    </a:solidFill>
                  </a:tcPr>
                </a:tc>
              </a:tr>
            </a:tbl>
          </a:graphicData>
        </a:graphic>
      </p:graphicFrame>
      <p:sp>
        <p:nvSpPr>
          <p:cNvPr id="7" name="Text 4"/>
          <p:cNvSpPr/>
          <p:nvPr/>
        </p:nvSpPr>
        <p:spPr>
          <a:xfrm>
            <a:off x="5120640" y="868680"/>
            <a:ext cx="3749040" cy="320040"/>
          </a:xfrm>
          <a:prstGeom prst="rect">
            <a:avLst/>
          </a:prstGeom>
          <a:noFill/>
          <a:ln/>
        </p:spPr>
        <p:txBody>
          <a:bodyPr wrap="square" lIns="0" tIns="0" rIns="0" bIns="0" rtlCol="0" anchor="ctr"/>
          <a:lstStyle/>
          <a:p>
            <a:pPr indent="0" marL="0">
              <a:buNone/>
            </a:pPr>
            <a:r>
              <a:rPr lang="en-US" sz="1300" b="1" dirty="0">
                <a:solidFill>
                  <a:srgbClr val="0D1B3E"/>
                </a:solidFill>
                <a:latin typeface="Trebuchet MS" pitchFamily="34" charset="0"/>
                <a:ea typeface="Trebuchet MS" pitchFamily="34" charset="-122"/>
                <a:cs typeface="Trebuchet MS" pitchFamily="34" charset="-120"/>
              </a:rPr>
              <a:t>Dashboard Features</a:t>
            </a:r>
            <a:endParaRPr lang="en-US" sz="1300" dirty="0"/>
          </a:p>
        </p:txBody>
      </p:sp>
      <p:sp>
        <p:nvSpPr>
          <p:cNvPr id="8" name="Shape 5"/>
          <p:cNvSpPr/>
          <p:nvPr/>
        </p:nvSpPr>
        <p:spPr>
          <a:xfrm>
            <a:off x="5120640" y="1234440"/>
            <a:ext cx="3749040" cy="658368"/>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9" name="Shape 6"/>
          <p:cNvSpPr/>
          <p:nvPr/>
        </p:nvSpPr>
        <p:spPr>
          <a:xfrm>
            <a:off x="5120640" y="1234440"/>
            <a:ext cx="54864" cy="658368"/>
          </a:xfrm>
          <a:prstGeom prst="rect">
            <a:avLst/>
          </a:prstGeom>
          <a:solidFill>
            <a:srgbClr val="0891B2"/>
          </a:solidFill>
          <a:ln/>
        </p:spPr>
      </p:sp>
      <p:sp>
        <p:nvSpPr>
          <p:cNvPr id="10" name="Text 7"/>
          <p:cNvSpPr/>
          <p:nvPr/>
        </p:nvSpPr>
        <p:spPr>
          <a:xfrm>
            <a:off x="5248656" y="1280160"/>
            <a:ext cx="3547872" cy="237744"/>
          </a:xfrm>
          <a:prstGeom prst="rect">
            <a:avLst/>
          </a:prstGeom>
          <a:noFill/>
          <a:ln/>
        </p:spPr>
        <p:txBody>
          <a:bodyPr wrap="square" lIns="0" tIns="0" rIns="0" bIns="0" rtlCol="0" anchor="ctr"/>
          <a:lstStyle/>
          <a:p>
            <a:pPr indent="0" marL="0">
              <a:buNone/>
            </a:pPr>
            <a:r>
              <a:rPr lang="en-US" sz="1200" b="1" dirty="0">
                <a:solidFill>
                  <a:srgbClr val="0D1B3E"/>
                </a:solidFill>
                <a:latin typeface="Trebuchet MS" pitchFamily="34" charset="0"/>
                <a:ea typeface="Trebuchet MS" pitchFamily="34" charset="-122"/>
                <a:cs typeface="Trebuchet MS" pitchFamily="34" charset="-120"/>
              </a:rPr>
              <a:t>Synced Slicers</a:t>
            </a:r>
            <a:endParaRPr lang="en-US" sz="1200" dirty="0"/>
          </a:p>
        </p:txBody>
      </p:sp>
      <p:sp>
        <p:nvSpPr>
          <p:cNvPr id="11" name="Text 8"/>
          <p:cNvSpPr/>
          <p:nvPr/>
        </p:nvSpPr>
        <p:spPr>
          <a:xfrm>
            <a:off x="5248656" y="1545336"/>
            <a:ext cx="3547872" cy="310896"/>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Age Group slicer synced across all 3 pages via View → Sync Slicers</a:t>
            </a:r>
            <a:endParaRPr lang="en-US" sz="1050" dirty="0"/>
          </a:p>
        </p:txBody>
      </p:sp>
      <p:sp>
        <p:nvSpPr>
          <p:cNvPr id="12" name="Shape 9"/>
          <p:cNvSpPr/>
          <p:nvPr/>
        </p:nvSpPr>
        <p:spPr>
          <a:xfrm>
            <a:off x="5120640" y="1984248"/>
            <a:ext cx="3749040" cy="658368"/>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13" name="Shape 10"/>
          <p:cNvSpPr/>
          <p:nvPr/>
        </p:nvSpPr>
        <p:spPr>
          <a:xfrm>
            <a:off x="5120640" y="1984248"/>
            <a:ext cx="54864" cy="658368"/>
          </a:xfrm>
          <a:prstGeom prst="rect">
            <a:avLst/>
          </a:prstGeom>
          <a:solidFill>
            <a:srgbClr val="0891B2"/>
          </a:solidFill>
          <a:ln/>
        </p:spPr>
      </p:sp>
      <p:sp>
        <p:nvSpPr>
          <p:cNvPr id="14" name="Text 11"/>
          <p:cNvSpPr/>
          <p:nvPr/>
        </p:nvSpPr>
        <p:spPr>
          <a:xfrm>
            <a:off x="5248656" y="2029968"/>
            <a:ext cx="3547872" cy="237744"/>
          </a:xfrm>
          <a:prstGeom prst="rect">
            <a:avLst/>
          </a:prstGeom>
          <a:noFill/>
          <a:ln/>
        </p:spPr>
        <p:txBody>
          <a:bodyPr wrap="square" lIns="0" tIns="0" rIns="0" bIns="0" rtlCol="0" anchor="ctr"/>
          <a:lstStyle/>
          <a:p>
            <a:pPr indent="0" marL="0">
              <a:buNone/>
            </a:pPr>
            <a:r>
              <a:rPr lang="en-US" sz="1200" b="1" dirty="0">
                <a:solidFill>
                  <a:srgbClr val="0D1B3E"/>
                </a:solidFill>
                <a:latin typeface="Trebuchet MS" pitchFamily="34" charset="0"/>
                <a:ea typeface="Trebuchet MS" pitchFamily="34" charset="-122"/>
                <a:cs typeface="Trebuchet MS" pitchFamily="34" charset="-120"/>
              </a:rPr>
              <a:t>Top N Filters</a:t>
            </a:r>
            <a:endParaRPr lang="en-US" sz="1200" dirty="0"/>
          </a:p>
        </p:txBody>
      </p:sp>
      <p:sp>
        <p:nvSpPr>
          <p:cNvPr id="15" name="Text 12"/>
          <p:cNvSpPr/>
          <p:nvPr/>
        </p:nvSpPr>
        <p:spPr>
          <a:xfrm>
            <a:off x="5248656" y="2295144"/>
            <a:ext cx="3547872" cy="310896"/>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State charts filtered to Top 10 by Total Transactions / Fraud_Flag</a:t>
            </a:r>
            <a:endParaRPr lang="en-US" sz="1050" dirty="0"/>
          </a:p>
        </p:txBody>
      </p:sp>
      <p:sp>
        <p:nvSpPr>
          <p:cNvPr id="16" name="Shape 13"/>
          <p:cNvSpPr/>
          <p:nvPr/>
        </p:nvSpPr>
        <p:spPr>
          <a:xfrm>
            <a:off x="5120640" y="2734056"/>
            <a:ext cx="3749040" cy="658368"/>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17" name="Shape 14"/>
          <p:cNvSpPr/>
          <p:nvPr/>
        </p:nvSpPr>
        <p:spPr>
          <a:xfrm>
            <a:off x="5120640" y="2734056"/>
            <a:ext cx="54864" cy="658368"/>
          </a:xfrm>
          <a:prstGeom prst="rect">
            <a:avLst/>
          </a:prstGeom>
          <a:solidFill>
            <a:srgbClr val="0891B2"/>
          </a:solidFill>
          <a:ln/>
        </p:spPr>
      </p:sp>
      <p:sp>
        <p:nvSpPr>
          <p:cNvPr id="18" name="Text 15"/>
          <p:cNvSpPr/>
          <p:nvPr/>
        </p:nvSpPr>
        <p:spPr>
          <a:xfrm>
            <a:off x="5248656" y="2779776"/>
            <a:ext cx="3547872" cy="237744"/>
          </a:xfrm>
          <a:prstGeom prst="rect">
            <a:avLst/>
          </a:prstGeom>
          <a:noFill/>
          <a:ln/>
        </p:spPr>
        <p:txBody>
          <a:bodyPr wrap="square" lIns="0" tIns="0" rIns="0" bIns="0" rtlCol="0" anchor="ctr"/>
          <a:lstStyle/>
          <a:p>
            <a:pPr indent="0" marL="0">
              <a:buNone/>
            </a:pPr>
            <a:r>
              <a:rPr lang="en-US" sz="1200" b="1" dirty="0">
                <a:solidFill>
                  <a:srgbClr val="0D1B3E"/>
                </a:solidFill>
                <a:latin typeface="Trebuchet MS" pitchFamily="34" charset="0"/>
                <a:ea typeface="Trebuchet MS" pitchFamily="34" charset="-122"/>
                <a:cs typeface="Trebuchet MS" pitchFamily="34" charset="-120"/>
              </a:rPr>
              <a:t>Drill-down Hierarchy</a:t>
            </a:r>
            <a:endParaRPr lang="en-US" sz="1200" dirty="0"/>
          </a:p>
        </p:txBody>
      </p:sp>
      <p:sp>
        <p:nvSpPr>
          <p:cNvPr id="19" name="Text 16"/>
          <p:cNvSpPr/>
          <p:nvPr/>
        </p:nvSpPr>
        <p:spPr>
          <a:xfrm>
            <a:off x="5248656" y="3044952"/>
            <a:ext cx="3547872" cy="310896"/>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Date hierarchy: Year → Quarter → Month for executive summary charts</a:t>
            </a:r>
            <a:endParaRPr lang="en-US" sz="1050" dirty="0"/>
          </a:p>
        </p:txBody>
      </p:sp>
      <p:sp>
        <p:nvSpPr>
          <p:cNvPr id="20" name="Shape 17"/>
          <p:cNvSpPr/>
          <p:nvPr/>
        </p:nvSpPr>
        <p:spPr>
          <a:xfrm>
            <a:off x="5120640" y="3483864"/>
            <a:ext cx="3749040" cy="658368"/>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21" name="Shape 18"/>
          <p:cNvSpPr/>
          <p:nvPr/>
        </p:nvSpPr>
        <p:spPr>
          <a:xfrm>
            <a:off x="5120640" y="3483864"/>
            <a:ext cx="54864" cy="658368"/>
          </a:xfrm>
          <a:prstGeom prst="rect">
            <a:avLst/>
          </a:prstGeom>
          <a:solidFill>
            <a:srgbClr val="0891B2"/>
          </a:solidFill>
          <a:ln/>
        </p:spPr>
      </p:sp>
      <p:sp>
        <p:nvSpPr>
          <p:cNvPr id="22" name="Text 19"/>
          <p:cNvSpPr/>
          <p:nvPr/>
        </p:nvSpPr>
        <p:spPr>
          <a:xfrm>
            <a:off x="5248656" y="3529584"/>
            <a:ext cx="3547872" cy="237744"/>
          </a:xfrm>
          <a:prstGeom prst="rect">
            <a:avLst/>
          </a:prstGeom>
          <a:noFill/>
          <a:ln/>
        </p:spPr>
        <p:txBody>
          <a:bodyPr wrap="square" lIns="0" tIns="0" rIns="0" bIns="0" rtlCol="0" anchor="ctr"/>
          <a:lstStyle/>
          <a:p>
            <a:pPr indent="0" marL="0">
              <a:buNone/>
            </a:pPr>
            <a:r>
              <a:rPr lang="en-US" sz="1200" b="1" dirty="0">
                <a:solidFill>
                  <a:srgbClr val="0D1B3E"/>
                </a:solidFill>
                <a:latin typeface="Trebuchet MS" pitchFamily="34" charset="0"/>
                <a:ea typeface="Trebuchet MS" pitchFamily="34" charset="-122"/>
                <a:cs typeface="Trebuchet MS" pitchFamily="34" charset="-120"/>
              </a:rPr>
              <a:t>Combo Chart</a:t>
            </a:r>
            <a:endParaRPr lang="en-US" sz="1200" dirty="0"/>
          </a:p>
        </p:txBody>
      </p:sp>
      <p:sp>
        <p:nvSpPr>
          <p:cNvPr id="23" name="Text 20"/>
          <p:cNvSpPr/>
          <p:nvPr/>
        </p:nvSpPr>
        <p:spPr>
          <a:xfrm>
            <a:off x="5248656" y="3794760"/>
            <a:ext cx="3547872" cy="310896"/>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Merchant Category × Total Transactions + Fraud_Flag line on Page 3</a:t>
            </a:r>
            <a:endParaRPr lang="en-US" sz="1050" dirty="0"/>
          </a:p>
        </p:txBody>
      </p:sp>
      <p:sp>
        <p:nvSpPr>
          <p:cNvPr id="24" name="Shape 21"/>
          <p:cNvSpPr/>
          <p:nvPr/>
        </p:nvSpPr>
        <p:spPr>
          <a:xfrm>
            <a:off x="5120640" y="4233672"/>
            <a:ext cx="3749040" cy="658368"/>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25" name="Shape 22"/>
          <p:cNvSpPr/>
          <p:nvPr/>
        </p:nvSpPr>
        <p:spPr>
          <a:xfrm>
            <a:off x="5120640" y="4233672"/>
            <a:ext cx="54864" cy="658368"/>
          </a:xfrm>
          <a:prstGeom prst="rect">
            <a:avLst/>
          </a:prstGeom>
          <a:solidFill>
            <a:srgbClr val="0891B2"/>
          </a:solidFill>
          <a:ln/>
        </p:spPr>
      </p:sp>
      <p:sp>
        <p:nvSpPr>
          <p:cNvPr id="26" name="Text 23"/>
          <p:cNvSpPr/>
          <p:nvPr/>
        </p:nvSpPr>
        <p:spPr>
          <a:xfrm>
            <a:off x="5248656" y="4279392"/>
            <a:ext cx="3547872" cy="237744"/>
          </a:xfrm>
          <a:prstGeom prst="rect">
            <a:avLst/>
          </a:prstGeom>
          <a:noFill/>
          <a:ln/>
        </p:spPr>
        <p:txBody>
          <a:bodyPr wrap="square" lIns="0" tIns="0" rIns="0" bIns="0" rtlCol="0" anchor="ctr"/>
          <a:lstStyle/>
          <a:p>
            <a:pPr indent="0" marL="0">
              <a:buNone/>
            </a:pPr>
            <a:r>
              <a:rPr lang="en-US" sz="1200" b="1" dirty="0">
                <a:solidFill>
                  <a:srgbClr val="0D1B3E"/>
                </a:solidFill>
                <a:latin typeface="Trebuchet MS" pitchFamily="34" charset="0"/>
                <a:ea typeface="Trebuchet MS" pitchFamily="34" charset="-122"/>
                <a:cs typeface="Trebuchet MS" pitchFamily="34" charset="-120"/>
              </a:rPr>
              <a:t>Consistent Branding</a:t>
            </a:r>
            <a:endParaRPr lang="en-US" sz="1200" dirty="0"/>
          </a:p>
        </p:txBody>
      </p:sp>
      <p:sp>
        <p:nvSpPr>
          <p:cNvPr id="27" name="Text 24"/>
          <p:cNvSpPr/>
          <p:nvPr/>
        </p:nvSpPr>
        <p:spPr>
          <a:xfrm>
            <a:off x="5248656" y="4544568"/>
            <a:ext cx="3547872" cy="310896"/>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Unified theme, matching header banners, data labels on all bar charts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Results — Dashboard Output</a:t>
            </a:r>
            <a:endParaRPr lang="en-US" sz="2200" dirty="0"/>
          </a:p>
        </p:txBody>
      </p:sp>
      <p:sp>
        <p:nvSpPr>
          <p:cNvPr id="4" name="Shape 2"/>
          <p:cNvSpPr/>
          <p:nvPr/>
        </p:nvSpPr>
        <p:spPr>
          <a:xfrm>
            <a:off x="0" y="685800"/>
            <a:ext cx="9144000" cy="54864"/>
          </a:xfrm>
          <a:prstGeom prst="rect">
            <a:avLst/>
          </a:prstGeom>
          <a:solidFill>
            <a:srgbClr val="0891B2"/>
          </a:solidFill>
          <a:ln/>
        </p:spPr>
      </p:sp>
      <p:sp>
        <p:nvSpPr>
          <p:cNvPr id="5" name="Shape 3"/>
          <p:cNvSpPr/>
          <p:nvPr/>
        </p:nvSpPr>
        <p:spPr>
          <a:xfrm>
            <a:off x="274320" y="868680"/>
            <a:ext cx="2697480" cy="105156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868680"/>
            <a:ext cx="2697480" cy="64008"/>
          </a:xfrm>
          <a:prstGeom prst="rect">
            <a:avLst/>
          </a:prstGeom>
          <a:solidFill>
            <a:srgbClr val="0D1B3E"/>
          </a:solidFill>
          <a:ln/>
        </p:spPr>
      </p:sp>
      <p:sp>
        <p:nvSpPr>
          <p:cNvPr id="7" name="Text 5"/>
          <p:cNvSpPr/>
          <p:nvPr/>
        </p:nvSpPr>
        <p:spPr>
          <a:xfrm>
            <a:off x="365760" y="978408"/>
            <a:ext cx="2514600" cy="502920"/>
          </a:xfrm>
          <a:prstGeom prst="rect">
            <a:avLst/>
          </a:prstGeom>
          <a:noFill/>
          <a:ln/>
        </p:spPr>
        <p:txBody>
          <a:bodyPr wrap="square" lIns="0" tIns="0" rIns="0" bIns="0" rtlCol="0" anchor="ctr"/>
          <a:lstStyle/>
          <a:p>
            <a:pPr indent="0" marL="0">
              <a:buNone/>
            </a:pPr>
            <a:r>
              <a:rPr lang="en-US" sz="2600" b="1" dirty="0">
                <a:solidFill>
                  <a:srgbClr val="0D1B3E"/>
                </a:solidFill>
                <a:latin typeface="Trebuchet MS" pitchFamily="34" charset="0"/>
                <a:ea typeface="Trebuchet MS" pitchFamily="34" charset="-122"/>
                <a:cs typeface="Trebuchet MS" pitchFamily="34" charset="-120"/>
              </a:rPr>
              <a:t>2,50,000</a:t>
            </a:r>
            <a:endParaRPr lang="en-US" sz="2600" dirty="0"/>
          </a:p>
        </p:txBody>
      </p:sp>
      <p:sp>
        <p:nvSpPr>
          <p:cNvPr id="8" name="Text 6"/>
          <p:cNvSpPr/>
          <p:nvPr/>
        </p:nvSpPr>
        <p:spPr>
          <a:xfrm>
            <a:off x="365760" y="1508760"/>
            <a:ext cx="251460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Total Transactions</a:t>
            </a:r>
            <a:endParaRPr lang="en-US" sz="1100" dirty="0"/>
          </a:p>
        </p:txBody>
      </p:sp>
      <p:sp>
        <p:nvSpPr>
          <p:cNvPr id="9" name="Shape 7"/>
          <p:cNvSpPr/>
          <p:nvPr/>
        </p:nvSpPr>
        <p:spPr>
          <a:xfrm>
            <a:off x="3154680" y="868680"/>
            <a:ext cx="2697480" cy="105156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154680" y="868680"/>
            <a:ext cx="2697480" cy="64008"/>
          </a:xfrm>
          <a:prstGeom prst="rect">
            <a:avLst/>
          </a:prstGeom>
          <a:solidFill>
            <a:srgbClr val="10B981"/>
          </a:solidFill>
          <a:ln/>
        </p:spPr>
      </p:sp>
      <p:sp>
        <p:nvSpPr>
          <p:cNvPr id="11" name="Text 9"/>
          <p:cNvSpPr/>
          <p:nvPr/>
        </p:nvSpPr>
        <p:spPr>
          <a:xfrm>
            <a:off x="3246120" y="978408"/>
            <a:ext cx="2514600" cy="502920"/>
          </a:xfrm>
          <a:prstGeom prst="rect">
            <a:avLst/>
          </a:prstGeom>
          <a:noFill/>
          <a:ln/>
        </p:spPr>
        <p:txBody>
          <a:bodyPr wrap="square" lIns="0" tIns="0" rIns="0" bIns="0" rtlCol="0" anchor="ctr"/>
          <a:lstStyle/>
          <a:p>
            <a:pPr indent="0" marL="0">
              <a:buNone/>
            </a:pPr>
            <a:r>
              <a:rPr lang="en-US" sz="2600" b="1" dirty="0">
                <a:solidFill>
                  <a:srgbClr val="10B981"/>
                </a:solidFill>
                <a:latin typeface="Trebuchet MS" pitchFamily="34" charset="0"/>
                <a:ea typeface="Trebuchet MS" pitchFamily="34" charset="-122"/>
                <a:cs typeface="Trebuchet MS" pitchFamily="34" charset="-120"/>
              </a:rPr>
              <a:t>87.4%</a:t>
            </a:r>
            <a:endParaRPr lang="en-US" sz="2600" dirty="0"/>
          </a:p>
        </p:txBody>
      </p:sp>
      <p:sp>
        <p:nvSpPr>
          <p:cNvPr id="12" name="Text 10"/>
          <p:cNvSpPr/>
          <p:nvPr/>
        </p:nvSpPr>
        <p:spPr>
          <a:xfrm>
            <a:off x="3246120" y="1508760"/>
            <a:ext cx="251460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Success Rate</a:t>
            </a:r>
            <a:endParaRPr lang="en-US" sz="1100" dirty="0"/>
          </a:p>
        </p:txBody>
      </p:sp>
      <p:sp>
        <p:nvSpPr>
          <p:cNvPr id="13" name="Shape 11"/>
          <p:cNvSpPr/>
          <p:nvPr/>
        </p:nvSpPr>
        <p:spPr>
          <a:xfrm>
            <a:off x="6035040" y="868680"/>
            <a:ext cx="2697480" cy="105156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6035040" y="868680"/>
            <a:ext cx="2697480" cy="64008"/>
          </a:xfrm>
          <a:prstGeom prst="rect">
            <a:avLst/>
          </a:prstGeom>
          <a:solidFill>
            <a:srgbClr val="0891B2"/>
          </a:solidFill>
          <a:ln/>
        </p:spPr>
      </p:sp>
      <p:sp>
        <p:nvSpPr>
          <p:cNvPr id="15" name="Text 13"/>
          <p:cNvSpPr/>
          <p:nvPr/>
        </p:nvSpPr>
        <p:spPr>
          <a:xfrm>
            <a:off x="6126480" y="978408"/>
            <a:ext cx="2514600" cy="502920"/>
          </a:xfrm>
          <a:prstGeom prst="rect">
            <a:avLst/>
          </a:prstGeom>
          <a:noFill/>
          <a:ln/>
        </p:spPr>
        <p:txBody>
          <a:bodyPr wrap="square" lIns="0" tIns="0" rIns="0" bIns="0" rtlCol="0" anchor="ctr"/>
          <a:lstStyle/>
          <a:p>
            <a:pPr indent="0" marL="0">
              <a:buNone/>
            </a:pPr>
            <a:r>
              <a:rPr lang="en-US" sz="2600" b="1" dirty="0">
                <a:solidFill>
                  <a:srgbClr val="0891B2"/>
                </a:solidFill>
                <a:latin typeface="Trebuchet MS" pitchFamily="34" charset="0"/>
                <a:ea typeface="Trebuchet MS" pitchFamily="34" charset="-122"/>
                <a:cs typeface="Trebuchet MS" pitchFamily="34" charset="-120"/>
              </a:rPr>
              <a:t>₹3,372</a:t>
            </a:r>
            <a:endParaRPr lang="en-US" sz="2600" dirty="0"/>
          </a:p>
        </p:txBody>
      </p:sp>
      <p:sp>
        <p:nvSpPr>
          <p:cNvPr id="16" name="Text 14"/>
          <p:cNvSpPr/>
          <p:nvPr/>
        </p:nvSpPr>
        <p:spPr>
          <a:xfrm>
            <a:off x="6126480" y="1508760"/>
            <a:ext cx="251460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Avg Transaction Value</a:t>
            </a:r>
            <a:endParaRPr lang="en-US" sz="1100" dirty="0"/>
          </a:p>
        </p:txBody>
      </p:sp>
      <p:sp>
        <p:nvSpPr>
          <p:cNvPr id="17" name="Shape 15"/>
          <p:cNvSpPr/>
          <p:nvPr/>
        </p:nvSpPr>
        <p:spPr>
          <a:xfrm>
            <a:off x="274320" y="2103120"/>
            <a:ext cx="2697480" cy="105156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74320" y="2103120"/>
            <a:ext cx="2697480" cy="64008"/>
          </a:xfrm>
          <a:prstGeom prst="rect">
            <a:avLst/>
          </a:prstGeom>
          <a:solidFill>
            <a:srgbClr val="EF4444"/>
          </a:solidFill>
          <a:ln/>
        </p:spPr>
      </p:sp>
      <p:sp>
        <p:nvSpPr>
          <p:cNvPr id="19" name="Text 17"/>
          <p:cNvSpPr/>
          <p:nvPr/>
        </p:nvSpPr>
        <p:spPr>
          <a:xfrm>
            <a:off x="365760" y="2212848"/>
            <a:ext cx="2514600" cy="502920"/>
          </a:xfrm>
          <a:prstGeom prst="rect">
            <a:avLst/>
          </a:prstGeom>
          <a:noFill/>
          <a:ln/>
        </p:spPr>
        <p:txBody>
          <a:bodyPr wrap="square" lIns="0" tIns="0" rIns="0" bIns="0" rtlCol="0" anchor="ctr"/>
          <a:lstStyle/>
          <a:p>
            <a:pPr indent="0" marL="0">
              <a:buNone/>
            </a:pPr>
            <a:r>
              <a:rPr lang="en-US" sz="2600" b="1" dirty="0">
                <a:solidFill>
                  <a:srgbClr val="EF4444"/>
                </a:solidFill>
                <a:latin typeface="Trebuchet MS" pitchFamily="34" charset="0"/>
                <a:ea typeface="Trebuchet MS" pitchFamily="34" charset="-122"/>
                <a:cs typeface="Trebuchet MS" pitchFamily="34" charset="-120"/>
              </a:rPr>
              <a:t>31,500</a:t>
            </a:r>
            <a:endParaRPr lang="en-US" sz="2600" dirty="0"/>
          </a:p>
        </p:txBody>
      </p:sp>
      <p:sp>
        <p:nvSpPr>
          <p:cNvPr id="20" name="Text 18"/>
          <p:cNvSpPr/>
          <p:nvPr/>
        </p:nvSpPr>
        <p:spPr>
          <a:xfrm>
            <a:off x="365760" y="2743200"/>
            <a:ext cx="251460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Failed Transactions</a:t>
            </a:r>
            <a:endParaRPr lang="en-US" sz="1100" dirty="0"/>
          </a:p>
        </p:txBody>
      </p:sp>
      <p:sp>
        <p:nvSpPr>
          <p:cNvPr id="21" name="Shape 19"/>
          <p:cNvSpPr/>
          <p:nvPr/>
        </p:nvSpPr>
        <p:spPr>
          <a:xfrm>
            <a:off x="3154680" y="2103120"/>
            <a:ext cx="2697480" cy="105156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3154680" y="2103120"/>
            <a:ext cx="2697480" cy="64008"/>
          </a:xfrm>
          <a:prstGeom prst="rect">
            <a:avLst/>
          </a:prstGeom>
          <a:solidFill>
            <a:srgbClr val="F59E0B"/>
          </a:solidFill>
          <a:ln/>
        </p:spPr>
      </p:sp>
      <p:sp>
        <p:nvSpPr>
          <p:cNvPr id="23" name="Text 21"/>
          <p:cNvSpPr/>
          <p:nvPr/>
        </p:nvSpPr>
        <p:spPr>
          <a:xfrm>
            <a:off x="3246120" y="2212848"/>
            <a:ext cx="2514600" cy="502920"/>
          </a:xfrm>
          <a:prstGeom prst="rect">
            <a:avLst/>
          </a:prstGeom>
          <a:noFill/>
          <a:ln/>
        </p:spPr>
        <p:txBody>
          <a:bodyPr wrap="square" lIns="0" tIns="0" rIns="0" bIns="0" rtlCol="0" anchor="ctr"/>
          <a:lstStyle/>
          <a:p>
            <a:pPr indent="0" marL="0">
              <a:buNone/>
            </a:pPr>
            <a:r>
              <a:rPr lang="en-US" sz="2600" b="1" dirty="0">
                <a:solidFill>
                  <a:srgbClr val="F59E0B"/>
                </a:solidFill>
                <a:latin typeface="Trebuchet MS" pitchFamily="34" charset="0"/>
                <a:ea typeface="Trebuchet MS" pitchFamily="34" charset="-122"/>
                <a:cs typeface="Trebuchet MS" pitchFamily="34" charset="-120"/>
              </a:rPr>
              <a:t>3,240</a:t>
            </a:r>
            <a:endParaRPr lang="en-US" sz="2600" dirty="0"/>
          </a:p>
        </p:txBody>
      </p:sp>
      <p:sp>
        <p:nvSpPr>
          <p:cNvPr id="24" name="Text 22"/>
          <p:cNvSpPr/>
          <p:nvPr/>
        </p:nvSpPr>
        <p:spPr>
          <a:xfrm>
            <a:off x="3246120" y="2743200"/>
            <a:ext cx="251460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Fraud Flagged</a:t>
            </a:r>
            <a:endParaRPr lang="en-US" sz="1100" dirty="0"/>
          </a:p>
        </p:txBody>
      </p:sp>
      <p:sp>
        <p:nvSpPr>
          <p:cNvPr id="25" name="Shape 23"/>
          <p:cNvSpPr/>
          <p:nvPr/>
        </p:nvSpPr>
        <p:spPr>
          <a:xfrm>
            <a:off x="6035040" y="2103120"/>
            <a:ext cx="2697480" cy="105156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6035040" y="2103120"/>
            <a:ext cx="2697480" cy="64008"/>
          </a:xfrm>
          <a:prstGeom prst="rect">
            <a:avLst/>
          </a:prstGeom>
          <a:solidFill>
            <a:srgbClr val="1A56DB"/>
          </a:solidFill>
          <a:ln/>
        </p:spPr>
      </p:sp>
      <p:sp>
        <p:nvSpPr>
          <p:cNvPr id="27" name="Text 25"/>
          <p:cNvSpPr/>
          <p:nvPr/>
        </p:nvSpPr>
        <p:spPr>
          <a:xfrm>
            <a:off x="6126480" y="2212848"/>
            <a:ext cx="2514600" cy="502920"/>
          </a:xfrm>
          <a:prstGeom prst="rect">
            <a:avLst/>
          </a:prstGeom>
          <a:noFill/>
          <a:ln/>
        </p:spPr>
        <p:txBody>
          <a:bodyPr wrap="square" lIns="0" tIns="0" rIns="0" bIns="0" rtlCol="0" anchor="ctr"/>
          <a:lstStyle/>
          <a:p>
            <a:pPr indent="0" marL="0">
              <a:buNone/>
            </a:pPr>
            <a:r>
              <a:rPr lang="en-US" sz="2600" b="1" dirty="0">
                <a:solidFill>
                  <a:srgbClr val="1A56DB"/>
                </a:solidFill>
                <a:latin typeface="Trebuchet MS" pitchFamily="34" charset="0"/>
                <a:ea typeface="Trebuchet MS" pitchFamily="34" charset="-122"/>
                <a:cs typeface="Trebuchet MS" pitchFamily="34" charset="-120"/>
              </a:rPr>
              <a:t>+8.3%</a:t>
            </a:r>
            <a:endParaRPr lang="en-US" sz="2600" dirty="0"/>
          </a:p>
        </p:txBody>
      </p:sp>
      <p:sp>
        <p:nvSpPr>
          <p:cNvPr id="28" name="Text 26"/>
          <p:cNvSpPr/>
          <p:nvPr/>
        </p:nvSpPr>
        <p:spPr>
          <a:xfrm>
            <a:off x="6126480" y="2743200"/>
            <a:ext cx="251460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MoM Growth (peak)</a:t>
            </a:r>
            <a:endParaRPr lang="en-US" sz="1100" dirty="0"/>
          </a:p>
        </p:txBody>
      </p:sp>
      <p:sp>
        <p:nvSpPr>
          <p:cNvPr id="29" name="Text 27"/>
          <p:cNvSpPr/>
          <p:nvPr/>
        </p:nvSpPr>
        <p:spPr>
          <a:xfrm>
            <a:off x="274320" y="3063240"/>
            <a:ext cx="8595360" cy="320040"/>
          </a:xfrm>
          <a:prstGeom prst="rect">
            <a:avLst/>
          </a:prstGeom>
          <a:noFill/>
          <a:ln/>
        </p:spPr>
        <p:txBody>
          <a:bodyPr wrap="square" lIns="0" tIns="0" rIns="0" bIns="0" rtlCol="0" anchor="ctr"/>
          <a:lstStyle/>
          <a:p>
            <a:pPr indent="0" marL="0">
              <a:buNone/>
            </a:pPr>
            <a:r>
              <a:rPr lang="en-US" sz="1300" b="1" dirty="0">
                <a:solidFill>
                  <a:srgbClr val="0D1B3E"/>
                </a:solidFill>
                <a:latin typeface="Trebuchet MS" pitchFamily="34" charset="0"/>
                <a:ea typeface="Trebuchet MS" pitchFamily="34" charset="-122"/>
                <a:cs typeface="Trebuchet MS" pitchFamily="34" charset="-120"/>
              </a:rPr>
              <a:t>Key Findings</a:t>
            </a:r>
            <a:endParaRPr lang="en-US" sz="1300" dirty="0"/>
          </a:p>
        </p:txBody>
      </p:sp>
      <p:sp>
        <p:nvSpPr>
          <p:cNvPr id="30" name="Text 28"/>
          <p:cNvSpPr/>
          <p:nvPr/>
        </p:nvSpPr>
        <p:spPr>
          <a:xfrm>
            <a:off x="365760" y="3429000"/>
            <a:ext cx="8412480" cy="274320"/>
          </a:xfrm>
          <a:prstGeom prst="rect">
            <a:avLst/>
          </a:prstGeom>
          <a:noFill/>
          <a:ln/>
        </p:spPr>
        <p:txBody>
          <a:bodyPr wrap="square" lIns="0" tIns="0" rIns="0" bIns="0" rtlCol="0" anchor="ctr"/>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Maharashtra, Karnataka and Delhi consistently led UPI transaction volumes in the Top 10 States chart.</a:t>
            </a:r>
            <a:endParaRPr lang="en-US" sz="1100" dirty="0"/>
          </a:p>
        </p:txBody>
      </p:sp>
      <p:sp>
        <p:nvSpPr>
          <p:cNvPr id="31" name="Text 29"/>
          <p:cNvSpPr/>
          <p:nvPr/>
        </p:nvSpPr>
        <p:spPr>
          <a:xfrm>
            <a:off x="365760" y="3739896"/>
            <a:ext cx="8412480" cy="274320"/>
          </a:xfrm>
          <a:prstGeom prst="rect">
            <a:avLst/>
          </a:prstGeom>
          <a:noFill/>
          <a:ln/>
        </p:spPr>
        <p:txBody>
          <a:bodyPr wrap="square" lIns="0" tIns="0" rIns="0" bIns="0" rtlCol="0" anchor="ctr"/>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The 26–35 age group recorded the highest transaction value (₹ amount), indicating the primary UPI spender demographic.</a:t>
            </a:r>
            <a:endParaRPr lang="en-US" sz="1100" dirty="0"/>
          </a:p>
        </p:txBody>
      </p:sp>
      <p:sp>
        <p:nvSpPr>
          <p:cNvPr id="32" name="Text 30"/>
          <p:cNvSpPr/>
          <p:nvPr/>
        </p:nvSpPr>
        <p:spPr>
          <a:xfrm>
            <a:off x="365760" y="4050792"/>
            <a:ext cx="8412480" cy="274320"/>
          </a:xfrm>
          <a:prstGeom prst="rect">
            <a:avLst/>
          </a:prstGeom>
          <a:noFill/>
          <a:ln/>
        </p:spPr>
        <p:txBody>
          <a:bodyPr wrap="square" lIns="0" tIns="0" rIns="0" bIns="0" rtlCol="0" anchor="ctr"/>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Merchant categories with highest fraud_flag rates identified via the Merchant × Fraud combo chart on the Fraud Analysis page.</a:t>
            </a:r>
            <a:endParaRPr lang="en-US" sz="1100" dirty="0"/>
          </a:p>
        </p:txBody>
      </p:sp>
      <p:sp>
        <p:nvSpPr>
          <p:cNvPr id="33" name="Text 31"/>
          <p:cNvSpPr/>
          <p:nvPr/>
        </p:nvSpPr>
        <p:spPr>
          <a:xfrm>
            <a:off x="365760" y="4361688"/>
            <a:ext cx="8412480" cy="274320"/>
          </a:xfrm>
          <a:prstGeom prst="rect">
            <a:avLst/>
          </a:prstGeom>
          <a:noFill/>
          <a:ln/>
        </p:spPr>
        <p:txBody>
          <a:bodyPr wrap="square" lIns="0" tIns="0" rIns="0" bIns="0" rtlCol="0" anchor="ctr"/>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4G network dominated transaction medium; Android devices accounted for the majority of UPI activity.</a:t>
            </a:r>
            <a:endParaRPr lang="en-US" sz="1100" dirty="0"/>
          </a:p>
        </p:txBody>
      </p:sp>
      <p:sp>
        <p:nvSpPr>
          <p:cNvPr id="34" name="Text 32"/>
          <p:cNvSpPr/>
          <p:nvPr/>
        </p:nvSpPr>
        <p:spPr>
          <a:xfrm>
            <a:off x="365760" y="4672584"/>
            <a:ext cx="8412480" cy="274320"/>
          </a:xfrm>
          <a:prstGeom prst="rect">
            <a:avLst/>
          </a:prstGeom>
          <a:noFill/>
          <a:ln/>
        </p:spPr>
        <p:txBody>
          <a:bodyPr wrap="square" lIns="0" tIns="0" rIns="0" bIns="0" rtlCol="0" anchor="ctr"/>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MoM growth showed positive trend across Q3 2024 with a peak in October — identified via Peak Transaction Month callout.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891B2"/>
          </a:solidFill>
          <a:ln/>
        </p:spPr>
      </p:sp>
      <p:sp>
        <p:nvSpPr>
          <p:cNvPr id="3" name="Shape 1"/>
          <p:cNvSpPr/>
          <p:nvPr/>
        </p:nvSpPr>
        <p:spPr>
          <a:xfrm>
            <a:off x="164592" y="0"/>
            <a:ext cx="8979408" cy="64008"/>
          </a:xfrm>
          <a:prstGeom prst="rect">
            <a:avLst/>
          </a:prstGeom>
          <a:solidFill>
            <a:srgbClr val="1A56DB"/>
          </a:solidFill>
          <a:ln/>
        </p:spPr>
      </p:sp>
      <p:sp>
        <p:nvSpPr>
          <p:cNvPr id="4" name="Text 2"/>
          <p:cNvSpPr/>
          <p:nvPr/>
        </p:nvSpPr>
        <p:spPr>
          <a:xfrm>
            <a:off x="411480" y="182880"/>
            <a:ext cx="832104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Conclusion</a:t>
            </a:r>
            <a:endParaRPr lang="en-US" sz="2800" dirty="0"/>
          </a:p>
        </p:txBody>
      </p:sp>
      <p:sp>
        <p:nvSpPr>
          <p:cNvPr id="5" name="Shape 3"/>
          <p:cNvSpPr/>
          <p:nvPr/>
        </p:nvSpPr>
        <p:spPr>
          <a:xfrm>
            <a:off x="411480" y="749808"/>
            <a:ext cx="1463040" cy="45720"/>
          </a:xfrm>
          <a:prstGeom prst="rect">
            <a:avLst/>
          </a:prstGeom>
          <a:solidFill>
            <a:srgbClr val="F59E0B"/>
          </a:solidFill>
          <a:ln/>
        </p:spPr>
      </p:sp>
      <p:sp>
        <p:nvSpPr>
          <p:cNvPr id="6" name="Text 4"/>
          <p:cNvSpPr/>
          <p:nvPr/>
        </p:nvSpPr>
        <p:spPr>
          <a:xfrm>
            <a:off x="411480" y="868680"/>
            <a:ext cx="8321040" cy="6858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This project successfully delivered a 3-page interactive Power BI dashboard analysing 250,000 UPI transactions from the 2024 Kaggle dataset. The dashboard provides clear, filterable insights for business stakeholders across three analytical dimensions.</a:t>
            </a:r>
            <a:endParaRPr lang="en-US" sz="1250" dirty="0"/>
          </a:p>
        </p:txBody>
      </p:sp>
      <p:sp>
        <p:nvSpPr>
          <p:cNvPr id="7" name="Shape 5"/>
          <p:cNvSpPr/>
          <p:nvPr/>
        </p:nvSpPr>
        <p:spPr>
          <a:xfrm>
            <a:off x="411480" y="1691640"/>
            <a:ext cx="4023360" cy="1234440"/>
          </a:xfrm>
          <a:prstGeom prst="rect">
            <a:avLst/>
          </a:prstGeom>
          <a:solidFill>
            <a:srgbClr val="112266"/>
          </a:solidFill>
          <a:ln w="12700">
            <a:solidFill>
              <a:srgbClr val="0891B2"/>
            </a:solidFill>
            <a:prstDash val="solid"/>
          </a:ln>
        </p:spPr>
      </p:sp>
      <p:sp>
        <p:nvSpPr>
          <p:cNvPr id="8" name="Shape 6"/>
          <p:cNvSpPr/>
          <p:nvPr/>
        </p:nvSpPr>
        <p:spPr>
          <a:xfrm>
            <a:off x="411480" y="1691640"/>
            <a:ext cx="4023360" cy="64008"/>
          </a:xfrm>
          <a:prstGeom prst="rect">
            <a:avLst/>
          </a:prstGeom>
          <a:solidFill>
            <a:srgbClr val="0891B2"/>
          </a:solidFill>
          <a:ln/>
        </p:spPr>
      </p:sp>
      <p:sp>
        <p:nvSpPr>
          <p:cNvPr id="9" name="Text 7"/>
          <p:cNvSpPr/>
          <p:nvPr/>
        </p:nvSpPr>
        <p:spPr>
          <a:xfrm>
            <a:off x="521208" y="1801368"/>
            <a:ext cx="3794760" cy="274320"/>
          </a:xfrm>
          <a:prstGeom prst="rect">
            <a:avLst/>
          </a:prstGeom>
          <a:noFill/>
          <a:ln/>
        </p:spPr>
        <p:txBody>
          <a:bodyPr wrap="square" lIns="0" tIns="0" rIns="0" bIns="0" rtlCol="0" anchor="ctr"/>
          <a:lstStyle/>
          <a:p>
            <a:pPr indent="0" marL="0">
              <a:buNone/>
            </a:pPr>
            <a:r>
              <a:rPr lang="en-US" sz="1200" b="1" dirty="0">
                <a:solidFill>
                  <a:srgbClr val="F59E0B"/>
                </a:solidFill>
                <a:latin typeface="Trebuchet MS" pitchFamily="34" charset="0"/>
                <a:ea typeface="Trebuchet MS" pitchFamily="34" charset="-122"/>
                <a:cs typeface="Trebuchet MS" pitchFamily="34" charset="-120"/>
              </a:rPr>
              <a:t>Data Engineering</a:t>
            </a:r>
            <a:endParaRPr lang="en-US" sz="1200" dirty="0"/>
          </a:p>
        </p:txBody>
      </p:sp>
      <p:sp>
        <p:nvSpPr>
          <p:cNvPr id="10" name="Text 8"/>
          <p:cNvSpPr/>
          <p:nvPr/>
        </p:nvSpPr>
        <p:spPr>
          <a:xfrm>
            <a:off x="521208" y="2121408"/>
            <a:ext cx="3794760" cy="713232"/>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Raw 250K-row CSV was cleaned via Power Query — type conversions, null handling and column renaming completed before modelling.</a:t>
            </a:r>
            <a:endParaRPr lang="en-US" sz="1050" dirty="0"/>
          </a:p>
        </p:txBody>
      </p:sp>
      <p:sp>
        <p:nvSpPr>
          <p:cNvPr id="11" name="Shape 9"/>
          <p:cNvSpPr/>
          <p:nvPr/>
        </p:nvSpPr>
        <p:spPr>
          <a:xfrm>
            <a:off x="4709160" y="1691640"/>
            <a:ext cx="4023360" cy="1234440"/>
          </a:xfrm>
          <a:prstGeom prst="rect">
            <a:avLst/>
          </a:prstGeom>
          <a:solidFill>
            <a:srgbClr val="112266"/>
          </a:solidFill>
          <a:ln w="12700">
            <a:solidFill>
              <a:srgbClr val="0891B2"/>
            </a:solidFill>
            <a:prstDash val="solid"/>
          </a:ln>
        </p:spPr>
      </p:sp>
      <p:sp>
        <p:nvSpPr>
          <p:cNvPr id="12" name="Shape 10"/>
          <p:cNvSpPr/>
          <p:nvPr/>
        </p:nvSpPr>
        <p:spPr>
          <a:xfrm>
            <a:off x="4709160" y="1691640"/>
            <a:ext cx="4023360" cy="64008"/>
          </a:xfrm>
          <a:prstGeom prst="rect">
            <a:avLst/>
          </a:prstGeom>
          <a:solidFill>
            <a:srgbClr val="0891B2"/>
          </a:solidFill>
          <a:ln/>
        </p:spPr>
      </p:sp>
      <p:sp>
        <p:nvSpPr>
          <p:cNvPr id="13" name="Text 11"/>
          <p:cNvSpPr/>
          <p:nvPr/>
        </p:nvSpPr>
        <p:spPr>
          <a:xfrm>
            <a:off x="4818888" y="1801368"/>
            <a:ext cx="3794760" cy="274320"/>
          </a:xfrm>
          <a:prstGeom prst="rect">
            <a:avLst/>
          </a:prstGeom>
          <a:noFill/>
          <a:ln/>
        </p:spPr>
        <p:txBody>
          <a:bodyPr wrap="square" lIns="0" tIns="0" rIns="0" bIns="0" rtlCol="0" anchor="ctr"/>
          <a:lstStyle/>
          <a:p>
            <a:pPr indent="0" marL="0">
              <a:buNone/>
            </a:pPr>
            <a:r>
              <a:rPr lang="en-US" sz="1200" b="1" dirty="0">
                <a:solidFill>
                  <a:srgbClr val="F59E0B"/>
                </a:solidFill>
                <a:latin typeface="Trebuchet MS" pitchFamily="34" charset="0"/>
                <a:ea typeface="Trebuchet MS" pitchFamily="34" charset="-122"/>
                <a:cs typeface="Trebuchet MS" pitchFamily="34" charset="-120"/>
              </a:rPr>
              <a:t>DAX Proficiency</a:t>
            </a:r>
            <a:endParaRPr lang="en-US" sz="1200" dirty="0"/>
          </a:p>
        </p:txBody>
      </p:sp>
      <p:sp>
        <p:nvSpPr>
          <p:cNvPr id="14" name="Text 12"/>
          <p:cNvSpPr/>
          <p:nvPr/>
        </p:nvSpPr>
        <p:spPr>
          <a:xfrm>
            <a:off x="4818888" y="2121408"/>
            <a:ext cx="3794760" cy="713232"/>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9 custom DAX measures developed from scratch, including time-intelligence (MoM Growth %) and TOPN-based dynamic callouts.</a:t>
            </a:r>
            <a:endParaRPr lang="en-US" sz="1050" dirty="0"/>
          </a:p>
        </p:txBody>
      </p:sp>
      <p:sp>
        <p:nvSpPr>
          <p:cNvPr id="15" name="Shape 13"/>
          <p:cNvSpPr/>
          <p:nvPr/>
        </p:nvSpPr>
        <p:spPr>
          <a:xfrm>
            <a:off x="411480" y="3108960"/>
            <a:ext cx="4023360" cy="1234440"/>
          </a:xfrm>
          <a:prstGeom prst="rect">
            <a:avLst/>
          </a:prstGeom>
          <a:solidFill>
            <a:srgbClr val="112266"/>
          </a:solidFill>
          <a:ln w="12700">
            <a:solidFill>
              <a:srgbClr val="0891B2"/>
            </a:solidFill>
            <a:prstDash val="solid"/>
          </a:ln>
        </p:spPr>
      </p:sp>
      <p:sp>
        <p:nvSpPr>
          <p:cNvPr id="16" name="Shape 14"/>
          <p:cNvSpPr/>
          <p:nvPr/>
        </p:nvSpPr>
        <p:spPr>
          <a:xfrm>
            <a:off x="411480" y="3108960"/>
            <a:ext cx="4023360" cy="64008"/>
          </a:xfrm>
          <a:prstGeom prst="rect">
            <a:avLst/>
          </a:prstGeom>
          <a:solidFill>
            <a:srgbClr val="0891B2"/>
          </a:solidFill>
          <a:ln/>
        </p:spPr>
      </p:sp>
      <p:sp>
        <p:nvSpPr>
          <p:cNvPr id="17" name="Text 15"/>
          <p:cNvSpPr/>
          <p:nvPr/>
        </p:nvSpPr>
        <p:spPr>
          <a:xfrm>
            <a:off x="521208" y="3218688"/>
            <a:ext cx="3794760" cy="274320"/>
          </a:xfrm>
          <a:prstGeom prst="rect">
            <a:avLst/>
          </a:prstGeom>
          <a:noFill/>
          <a:ln/>
        </p:spPr>
        <p:txBody>
          <a:bodyPr wrap="square" lIns="0" tIns="0" rIns="0" bIns="0" rtlCol="0" anchor="ctr"/>
          <a:lstStyle/>
          <a:p>
            <a:pPr indent="0" marL="0">
              <a:buNone/>
            </a:pPr>
            <a:r>
              <a:rPr lang="en-US" sz="1200" b="1" dirty="0">
                <a:solidFill>
                  <a:srgbClr val="F59E0B"/>
                </a:solidFill>
                <a:latin typeface="Trebuchet MS" pitchFamily="34" charset="0"/>
                <a:ea typeface="Trebuchet MS" pitchFamily="34" charset="-122"/>
                <a:cs typeface="Trebuchet MS" pitchFamily="34" charset="-120"/>
              </a:rPr>
              <a:t>Visual Storytelling</a:t>
            </a:r>
            <a:endParaRPr lang="en-US" sz="1200" dirty="0"/>
          </a:p>
        </p:txBody>
      </p:sp>
      <p:sp>
        <p:nvSpPr>
          <p:cNvPr id="18" name="Text 16"/>
          <p:cNvSpPr/>
          <p:nvPr/>
        </p:nvSpPr>
        <p:spPr>
          <a:xfrm>
            <a:off x="521208" y="3538728"/>
            <a:ext cx="3794760" cy="713232"/>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3-page dashboard follows a clear narrative: executive overview → transaction behaviour → fraud risk, enabling drill-through analysis.</a:t>
            </a:r>
            <a:endParaRPr lang="en-US" sz="1050" dirty="0"/>
          </a:p>
        </p:txBody>
      </p:sp>
      <p:sp>
        <p:nvSpPr>
          <p:cNvPr id="19" name="Shape 17"/>
          <p:cNvSpPr/>
          <p:nvPr/>
        </p:nvSpPr>
        <p:spPr>
          <a:xfrm>
            <a:off x="4709160" y="3108960"/>
            <a:ext cx="4023360" cy="1234440"/>
          </a:xfrm>
          <a:prstGeom prst="rect">
            <a:avLst/>
          </a:prstGeom>
          <a:solidFill>
            <a:srgbClr val="112266"/>
          </a:solidFill>
          <a:ln w="12700">
            <a:solidFill>
              <a:srgbClr val="0891B2"/>
            </a:solidFill>
            <a:prstDash val="solid"/>
          </a:ln>
        </p:spPr>
      </p:sp>
      <p:sp>
        <p:nvSpPr>
          <p:cNvPr id="20" name="Shape 18"/>
          <p:cNvSpPr/>
          <p:nvPr/>
        </p:nvSpPr>
        <p:spPr>
          <a:xfrm>
            <a:off x="4709160" y="3108960"/>
            <a:ext cx="4023360" cy="64008"/>
          </a:xfrm>
          <a:prstGeom prst="rect">
            <a:avLst/>
          </a:prstGeom>
          <a:solidFill>
            <a:srgbClr val="0891B2"/>
          </a:solidFill>
          <a:ln/>
        </p:spPr>
      </p:sp>
      <p:sp>
        <p:nvSpPr>
          <p:cNvPr id="21" name="Text 19"/>
          <p:cNvSpPr/>
          <p:nvPr/>
        </p:nvSpPr>
        <p:spPr>
          <a:xfrm>
            <a:off x="4818888" y="3218688"/>
            <a:ext cx="3794760" cy="274320"/>
          </a:xfrm>
          <a:prstGeom prst="rect">
            <a:avLst/>
          </a:prstGeom>
          <a:noFill/>
          <a:ln/>
        </p:spPr>
        <p:txBody>
          <a:bodyPr wrap="square" lIns="0" tIns="0" rIns="0" bIns="0" rtlCol="0" anchor="ctr"/>
          <a:lstStyle/>
          <a:p>
            <a:pPr indent="0" marL="0">
              <a:buNone/>
            </a:pPr>
            <a:r>
              <a:rPr lang="en-US" sz="1200" b="1" dirty="0">
                <a:solidFill>
                  <a:srgbClr val="F59E0B"/>
                </a:solidFill>
                <a:latin typeface="Trebuchet MS" pitchFamily="34" charset="0"/>
                <a:ea typeface="Trebuchet MS" pitchFamily="34" charset="-122"/>
                <a:cs typeface="Trebuchet MS" pitchFamily="34" charset="-120"/>
              </a:rPr>
              <a:t>Analytical Insights</a:t>
            </a:r>
            <a:endParaRPr lang="en-US" sz="1200" dirty="0"/>
          </a:p>
        </p:txBody>
      </p:sp>
      <p:sp>
        <p:nvSpPr>
          <p:cNvPr id="22" name="Text 20"/>
          <p:cNvSpPr/>
          <p:nvPr/>
        </p:nvSpPr>
        <p:spPr>
          <a:xfrm>
            <a:off x="4818888" y="3538728"/>
            <a:ext cx="3794760" cy="713232"/>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Fraud flagging, age-group spending patterns, state-wise distribution and merchant risk profiles all surfaced through structured visualisation.</a:t>
            </a:r>
            <a:endParaRPr lang="en-US" sz="1050" dirty="0"/>
          </a:p>
        </p:txBody>
      </p:sp>
      <p:sp>
        <p:nvSpPr>
          <p:cNvPr id="23" name="Shape 21"/>
          <p:cNvSpPr/>
          <p:nvPr/>
        </p:nvSpPr>
        <p:spPr>
          <a:xfrm>
            <a:off x="164592" y="4983480"/>
            <a:ext cx="8979408" cy="160020"/>
          </a:xfrm>
          <a:prstGeom prst="rect">
            <a:avLst/>
          </a:prstGeom>
          <a:solidFill>
            <a:srgbClr val="1A56DB"/>
          </a:solidFill>
          <a:ln/>
        </p:spPr>
      </p:sp>
      <p:sp>
        <p:nvSpPr>
          <p:cNvPr id="24" name="Text 22"/>
          <p:cNvSpPr/>
          <p:nvPr/>
        </p:nvSpPr>
        <p:spPr>
          <a:xfrm>
            <a:off x="164592" y="4983480"/>
            <a:ext cx="8979408" cy="16002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MS Elevate AICTE Internship  ·  Simaran Shaikh  ·  Feb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Future Scope</a:t>
            </a:r>
            <a:endParaRPr lang="en-US" sz="2200" dirty="0"/>
          </a:p>
        </p:txBody>
      </p:sp>
      <p:sp>
        <p:nvSpPr>
          <p:cNvPr id="4" name="Shape 2"/>
          <p:cNvSpPr/>
          <p:nvPr/>
        </p:nvSpPr>
        <p:spPr>
          <a:xfrm>
            <a:off x="0" y="685800"/>
            <a:ext cx="9144000" cy="54864"/>
          </a:xfrm>
          <a:prstGeom prst="rect">
            <a:avLst/>
          </a:prstGeom>
          <a:solidFill>
            <a:srgbClr val="0891B2"/>
          </a:solidFill>
          <a:ln/>
        </p:spPr>
      </p:sp>
      <p:sp>
        <p:nvSpPr>
          <p:cNvPr id="5" name="Shape 3"/>
          <p:cNvSpPr/>
          <p:nvPr/>
        </p:nvSpPr>
        <p:spPr>
          <a:xfrm>
            <a:off x="274320" y="868680"/>
            <a:ext cx="2743200" cy="182880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868680"/>
            <a:ext cx="2743200" cy="384048"/>
          </a:xfrm>
          <a:prstGeom prst="rect">
            <a:avLst/>
          </a:prstGeom>
          <a:solidFill>
            <a:srgbClr val="1A56DB"/>
          </a:solidFill>
          <a:ln/>
        </p:spPr>
      </p:sp>
      <p:sp>
        <p:nvSpPr>
          <p:cNvPr id="7" name="Text 5"/>
          <p:cNvSpPr/>
          <p:nvPr/>
        </p:nvSpPr>
        <p:spPr>
          <a:xfrm>
            <a:off x="365760" y="868680"/>
            <a:ext cx="2560320" cy="384048"/>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01  Real-Time Data Integration</a:t>
            </a:r>
            <a:endParaRPr lang="en-US" sz="1100" dirty="0"/>
          </a:p>
        </p:txBody>
      </p:sp>
      <p:sp>
        <p:nvSpPr>
          <p:cNvPr id="8" name="Text 6"/>
          <p:cNvSpPr/>
          <p:nvPr/>
        </p:nvSpPr>
        <p:spPr>
          <a:xfrm>
            <a:off x="365760" y="1325880"/>
            <a:ext cx="2560320" cy="12801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Connect Power BI to a live UPI transaction API or Azure SQL stream to replace the static CSV with real-time refresh, enabling live monitoring of transaction health.</a:t>
            </a:r>
            <a:endParaRPr lang="en-US" sz="1000" dirty="0"/>
          </a:p>
        </p:txBody>
      </p:sp>
      <p:sp>
        <p:nvSpPr>
          <p:cNvPr id="9" name="Shape 7"/>
          <p:cNvSpPr/>
          <p:nvPr/>
        </p:nvSpPr>
        <p:spPr>
          <a:xfrm>
            <a:off x="3200400" y="868680"/>
            <a:ext cx="2743200" cy="182880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00400" y="868680"/>
            <a:ext cx="2743200" cy="384048"/>
          </a:xfrm>
          <a:prstGeom prst="rect">
            <a:avLst/>
          </a:prstGeom>
          <a:solidFill>
            <a:srgbClr val="EF4444"/>
          </a:solidFill>
          <a:ln/>
        </p:spPr>
      </p:sp>
      <p:sp>
        <p:nvSpPr>
          <p:cNvPr id="11" name="Text 9"/>
          <p:cNvSpPr/>
          <p:nvPr/>
        </p:nvSpPr>
        <p:spPr>
          <a:xfrm>
            <a:off x="3291840" y="868680"/>
            <a:ext cx="2560320" cy="384048"/>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02  ML-Based Fraud Prediction</a:t>
            </a:r>
            <a:endParaRPr lang="en-US" sz="1100" dirty="0"/>
          </a:p>
        </p:txBody>
      </p:sp>
      <p:sp>
        <p:nvSpPr>
          <p:cNvPr id="12" name="Text 10"/>
          <p:cNvSpPr/>
          <p:nvPr/>
        </p:nvSpPr>
        <p:spPr>
          <a:xfrm>
            <a:off x="3291840" y="1325880"/>
            <a:ext cx="2560320" cy="12801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Integrate Python or Azure ML model output into Power BI to predict fraud probability per transaction using Fraud_Flag, Transaction_Status and Merchant_Category as features.</a:t>
            </a:r>
            <a:endParaRPr lang="en-US" sz="1000" dirty="0"/>
          </a:p>
        </p:txBody>
      </p:sp>
      <p:sp>
        <p:nvSpPr>
          <p:cNvPr id="13" name="Shape 11"/>
          <p:cNvSpPr/>
          <p:nvPr/>
        </p:nvSpPr>
        <p:spPr>
          <a:xfrm>
            <a:off x="6126480" y="868680"/>
            <a:ext cx="2743200" cy="182880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6126480" y="868680"/>
            <a:ext cx="2743200" cy="384048"/>
          </a:xfrm>
          <a:prstGeom prst="rect">
            <a:avLst/>
          </a:prstGeom>
          <a:solidFill>
            <a:srgbClr val="0891B2"/>
          </a:solidFill>
          <a:ln/>
        </p:spPr>
      </p:sp>
      <p:sp>
        <p:nvSpPr>
          <p:cNvPr id="15" name="Text 13"/>
          <p:cNvSpPr/>
          <p:nvPr/>
        </p:nvSpPr>
        <p:spPr>
          <a:xfrm>
            <a:off x="6217920" y="868680"/>
            <a:ext cx="2560320" cy="384048"/>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03  Geographic Heat Map</a:t>
            </a:r>
            <a:endParaRPr lang="en-US" sz="1100" dirty="0"/>
          </a:p>
        </p:txBody>
      </p:sp>
      <p:sp>
        <p:nvSpPr>
          <p:cNvPr id="16" name="Text 14"/>
          <p:cNvSpPr/>
          <p:nvPr/>
        </p:nvSpPr>
        <p:spPr>
          <a:xfrm>
            <a:off x="6217920" y="1325880"/>
            <a:ext cx="2560320" cy="12801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Replace the Top 10 States bar chart with a filled India map visual using ArcGIS or Power BI Maps, providing spatial distribution of UPI activity and fraud.</a:t>
            </a:r>
            <a:endParaRPr lang="en-US" sz="1000" dirty="0"/>
          </a:p>
        </p:txBody>
      </p:sp>
      <p:sp>
        <p:nvSpPr>
          <p:cNvPr id="17" name="Shape 15"/>
          <p:cNvSpPr/>
          <p:nvPr/>
        </p:nvSpPr>
        <p:spPr>
          <a:xfrm>
            <a:off x="274320" y="2880360"/>
            <a:ext cx="2743200" cy="182880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74320" y="2880360"/>
            <a:ext cx="2743200" cy="384048"/>
          </a:xfrm>
          <a:prstGeom prst="rect">
            <a:avLst/>
          </a:prstGeom>
          <a:solidFill>
            <a:srgbClr val="10B981"/>
          </a:solidFill>
          <a:ln/>
        </p:spPr>
      </p:sp>
      <p:sp>
        <p:nvSpPr>
          <p:cNvPr id="19" name="Text 17"/>
          <p:cNvSpPr/>
          <p:nvPr/>
        </p:nvSpPr>
        <p:spPr>
          <a:xfrm>
            <a:off x="365760" y="2880360"/>
            <a:ext cx="2560320" cy="384048"/>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04  Row-Level Security (RLS)</a:t>
            </a:r>
            <a:endParaRPr lang="en-US" sz="1100" dirty="0"/>
          </a:p>
        </p:txBody>
      </p:sp>
      <p:sp>
        <p:nvSpPr>
          <p:cNvPr id="20" name="Text 18"/>
          <p:cNvSpPr/>
          <p:nvPr/>
        </p:nvSpPr>
        <p:spPr>
          <a:xfrm>
            <a:off x="365760" y="3337560"/>
            <a:ext cx="2560320" cy="12801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Implement RLS so bank-specific users (Sender_Bank filter) see only their own institution's data — enabling the dashboard to be shared securely across organisations.</a:t>
            </a:r>
            <a:endParaRPr lang="en-US" sz="1000" dirty="0"/>
          </a:p>
        </p:txBody>
      </p:sp>
      <p:sp>
        <p:nvSpPr>
          <p:cNvPr id="21" name="Shape 19"/>
          <p:cNvSpPr/>
          <p:nvPr/>
        </p:nvSpPr>
        <p:spPr>
          <a:xfrm>
            <a:off x="3200400" y="2880360"/>
            <a:ext cx="2743200" cy="182880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3200400" y="2880360"/>
            <a:ext cx="2743200" cy="384048"/>
          </a:xfrm>
          <a:prstGeom prst="rect">
            <a:avLst/>
          </a:prstGeom>
          <a:solidFill>
            <a:srgbClr val="F59E0B"/>
          </a:solidFill>
          <a:ln/>
        </p:spPr>
      </p:sp>
      <p:sp>
        <p:nvSpPr>
          <p:cNvPr id="23" name="Text 21"/>
          <p:cNvSpPr/>
          <p:nvPr/>
        </p:nvSpPr>
        <p:spPr>
          <a:xfrm>
            <a:off x="3291840" y="2880360"/>
            <a:ext cx="2560320" cy="384048"/>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05  Expanded Demographic Analysis</a:t>
            </a:r>
            <a:endParaRPr lang="en-US" sz="1100" dirty="0"/>
          </a:p>
        </p:txBody>
      </p:sp>
      <p:sp>
        <p:nvSpPr>
          <p:cNvPr id="24" name="Text 22"/>
          <p:cNvSpPr/>
          <p:nvPr/>
        </p:nvSpPr>
        <p:spPr>
          <a:xfrm>
            <a:off x="3291840" y="3337560"/>
            <a:ext cx="2560320" cy="12801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Source an enriched dataset including Gender, City, Hour-of-Day and Transaction Duration to deepen the Transaction Analysis page beyond age group alone.</a:t>
            </a:r>
            <a:endParaRPr lang="en-US" sz="1000" dirty="0"/>
          </a:p>
        </p:txBody>
      </p:sp>
      <p:sp>
        <p:nvSpPr>
          <p:cNvPr id="25" name="Shape 23"/>
          <p:cNvSpPr/>
          <p:nvPr/>
        </p:nvSpPr>
        <p:spPr>
          <a:xfrm>
            <a:off x="6126480" y="2880360"/>
            <a:ext cx="2743200" cy="1828800"/>
          </a:xfrm>
          <a:prstGeom prst="rect">
            <a:avLst/>
          </a:prstGeom>
          <a:solidFill>
            <a:srgbClr val="FFFFFF"/>
          </a:solidFill>
          <a:ln w="12700">
            <a:solidFill>
              <a:srgbClr val="D1E3FF"/>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6126480" y="2880360"/>
            <a:ext cx="2743200" cy="384048"/>
          </a:xfrm>
          <a:prstGeom prst="rect">
            <a:avLst/>
          </a:prstGeom>
          <a:solidFill>
            <a:srgbClr val="0D1B3E"/>
          </a:solidFill>
          <a:ln/>
        </p:spPr>
      </p:sp>
      <p:sp>
        <p:nvSpPr>
          <p:cNvPr id="27" name="Text 25"/>
          <p:cNvSpPr/>
          <p:nvPr/>
        </p:nvSpPr>
        <p:spPr>
          <a:xfrm>
            <a:off x="6217920" y="2880360"/>
            <a:ext cx="2560320" cy="384048"/>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06  Automated Reporting</a:t>
            </a:r>
            <a:endParaRPr lang="en-US" sz="1100" dirty="0"/>
          </a:p>
        </p:txBody>
      </p:sp>
      <p:sp>
        <p:nvSpPr>
          <p:cNvPr id="28" name="Text 26"/>
          <p:cNvSpPr/>
          <p:nvPr/>
        </p:nvSpPr>
        <p:spPr>
          <a:xfrm>
            <a:off x="6217920" y="3337560"/>
            <a:ext cx="2560320" cy="12801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Schedule Power BI report subscriptions to deliver email snapshots of KPI cards to stakeholders every Monday morning for proactive decision-making.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References</a:t>
            </a:r>
            <a:endParaRPr lang="en-US" sz="2200" dirty="0"/>
          </a:p>
        </p:txBody>
      </p:sp>
      <p:sp>
        <p:nvSpPr>
          <p:cNvPr id="4" name="Shape 2"/>
          <p:cNvSpPr/>
          <p:nvPr/>
        </p:nvSpPr>
        <p:spPr>
          <a:xfrm>
            <a:off x="0" y="685800"/>
            <a:ext cx="9144000" cy="54864"/>
          </a:xfrm>
          <a:prstGeom prst="rect">
            <a:avLst/>
          </a:prstGeom>
          <a:solidFill>
            <a:srgbClr val="0891B2"/>
          </a:solidFill>
          <a:ln/>
        </p:spPr>
      </p:sp>
      <p:sp>
        <p:nvSpPr>
          <p:cNvPr id="5" name="Text 3"/>
          <p:cNvSpPr/>
          <p:nvPr/>
        </p:nvSpPr>
        <p:spPr>
          <a:xfrm>
            <a:off x="320040" y="868680"/>
            <a:ext cx="8503920" cy="274320"/>
          </a:xfrm>
          <a:prstGeom prst="rect">
            <a:avLst/>
          </a:prstGeom>
          <a:noFill/>
          <a:ln/>
        </p:spPr>
        <p:txBody>
          <a:bodyPr wrap="square" lIns="0" tIns="0" rIns="0" bIns="0" rtlCol="0" anchor="ctr"/>
          <a:lstStyle/>
          <a:p>
            <a:pPr indent="0" marL="0">
              <a:buNone/>
            </a:pPr>
            <a:r>
              <a:rPr lang="en-US" sz="1200" b="1" dirty="0">
                <a:solidFill>
                  <a:srgbClr val="0D1B3E"/>
                </a:solidFill>
                <a:latin typeface="Trebuchet MS" pitchFamily="34" charset="0"/>
                <a:ea typeface="Trebuchet MS" pitchFamily="34" charset="-122"/>
                <a:cs typeface="Trebuchet MS" pitchFamily="34" charset="-120"/>
              </a:rPr>
              <a:t>Dataset</a:t>
            </a:r>
            <a:endParaRPr lang="en-US" sz="1200" dirty="0"/>
          </a:p>
        </p:txBody>
      </p:sp>
      <p:sp>
        <p:nvSpPr>
          <p:cNvPr id="6" name="Shape 4"/>
          <p:cNvSpPr/>
          <p:nvPr/>
        </p:nvSpPr>
        <p:spPr>
          <a:xfrm>
            <a:off x="320040" y="1161288"/>
            <a:ext cx="8503920" cy="27432"/>
          </a:xfrm>
          <a:prstGeom prst="rect">
            <a:avLst/>
          </a:prstGeom>
          <a:solidFill>
            <a:srgbClr val="D1E3FF"/>
          </a:solidFill>
          <a:ln/>
        </p:spPr>
      </p:sp>
      <p:sp>
        <p:nvSpPr>
          <p:cNvPr id="7" name="Text 5"/>
          <p:cNvSpPr/>
          <p:nvPr/>
        </p:nvSpPr>
        <p:spPr>
          <a:xfrm>
            <a:off x="411480" y="1252728"/>
            <a:ext cx="8321040" cy="27432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UPI Transactions 2024 — Kaggle Open Dataset (250,000 rows). Columns: Date, Amount_INR, Transaction_Status, Fraud_Flag, Is_Success, State, Merchant_Category, Device_Type, Network_Type, Sender_Bank, Receiver_Bank, Sender_Age_Group, Transcation_Authenticity.</a:t>
            </a:r>
            <a:endParaRPr lang="en-US" sz="1050" dirty="0"/>
          </a:p>
        </p:txBody>
      </p:sp>
      <p:sp>
        <p:nvSpPr>
          <p:cNvPr id="8" name="Text 6"/>
          <p:cNvSpPr/>
          <p:nvPr/>
        </p:nvSpPr>
        <p:spPr>
          <a:xfrm>
            <a:off x="320040" y="1618488"/>
            <a:ext cx="8503920" cy="274320"/>
          </a:xfrm>
          <a:prstGeom prst="rect">
            <a:avLst/>
          </a:prstGeom>
          <a:noFill/>
          <a:ln/>
        </p:spPr>
        <p:txBody>
          <a:bodyPr wrap="square" lIns="0" tIns="0" rIns="0" bIns="0" rtlCol="0" anchor="ctr"/>
          <a:lstStyle/>
          <a:p>
            <a:pPr indent="0" marL="0">
              <a:buNone/>
            </a:pPr>
            <a:r>
              <a:rPr lang="en-US" sz="1200" b="1" dirty="0">
                <a:solidFill>
                  <a:srgbClr val="0D1B3E"/>
                </a:solidFill>
                <a:latin typeface="Trebuchet MS" pitchFamily="34" charset="0"/>
                <a:ea typeface="Trebuchet MS" pitchFamily="34" charset="-122"/>
                <a:cs typeface="Trebuchet MS" pitchFamily="34" charset="-120"/>
              </a:rPr>
              <a:t>Tools &amp; Platform</a:t>
            </a:r>
            <a:endParaRPr lang="en-US" sz="1200" dirty="0"/>
          </a:p>
        </p:txBody>
      </p:sp>
      <p:sp>
        <p:nvSpPr>
          <p:cNvPr id="9" name="Shape 7"/>
          <p:cNvSpPr/>
          <p:nvPr/>
        </p:nvSpPr>
        <p:spPr>
          <a:xfrm>
            <a:off x="320040" y="1911096"/>
            <a:ext cx="8503920" cy="27432"/>
          </a:xfrm>
          <a:prstGeom prst="rect">
            <a:avLst/>
          </a:prstGeom>
          <a:solidFill>
            <a:srgbClr val="D1E3FF"/>
          </a:solidFill>
          <a:ln/>
        </p:spPr>
      </p:sp>
      <p:sp>
        <p:nvSpPr>
          <p:cNvPr id="10" name="Text 8"/>
          <p:cNvSpPr/>
          <p:nvPr/>
        </p:nvSpPr>
        <p:spPr>
          <a:xfrm>
            <a:off x="411480" y="2002536"/>
            <a:ext cx="8321040" cy="27432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Microsoft Power BI Desktop — Dashboard design, DAX measures, Power Query M language.</a:t>
            </a:r>
            <a:endParaRPr lang="en-US" sz="1050" dirty="0"/>
          </a:p>
        </p:txBody>
      </p:sp>
      <p:sp>
        <p:nvSpPr>
          <p:cNvPr id="11" name="Text 9"/>
          <p:cNvSpPr/>
          <p:nvPr/>
        </p:nvSpPr>
        <p:spPr>
          <a:xfrm>
            <a:off x="411480" y="2276856"/>
            <a:ext cx="8321040" cy="27432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Microsoft Excel — Initial data exploration and column profiling.</a:t>
            </a:r>
            <a:endParaRPr lang="en-US" sz="1050" dirty="0"/>
          </a:p>
        </p:txBody>
      </p:sp>
      <p:sp>
        <p:nvSpPr>
          <p:cNvPr id="12" name="Text 10"/>
          <p:cNvSpPr/>
          <p:nvPr/>
        </p:nvSpPr>
        <p:spPr>
          <a:xfrm>
            <a:off x="411480" y="2551176"/>
            <a:ext cx="8321040" cy="27432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MS Elevate AICTE Internship Program — Project framework and evaluation rubric, February 2026.</a:t>
            </a:r>
            <a:endParaRPr lang="en-US" sz="1050" dirty="0"/>
          </a:p>
        </p:txBody>
      </p:sp>
      <p:sp>
        <p:nvSpPr>
          <p:cNvPr id="13" name="Text 11"/>
          <p:cNvSpPr/>
          <p:nvPr/>
        </p:nvSpPr>
        <p:spPr>
          <a:xfrm>
            <a:off x="320040" y="2916936"/>
            <a:ext cx="8503920" cy="274320"/>
          </a:xfrm>
          <a:prstGeom prst="rect">
            <a:avLst/>
          </a:prstGeom>
          <a:noFill/>
          <a:ln/>
        </p:spPr>
        <p:txBody>
          <a:bodyPr wrap="square" lIns="0" tIns="0" rIns="0" bIns="0" rtlCol="0" anchor="ctr"/>
          <a:lstStyle/>
          <a:p>
            <a:pPr indent="0" marL="0">
              <a:buNone/>
            </a:pPr>
            <a:r>
              <a:rPr lang="en-US" sz="1200" b="1" dirty="0">
                <a:solidFill>
                  <a:srgbClr val="0D1B3E"/>
                </a:solidFill>
                <a:latin typeface="Trebuchet MS" pitchFamily="34" charset="0"/>
                <a:ea typeface="Trebuchet MS" pitchFamily="34" charset="-122"/>
                <a:cs typeface="Trebuchet MS" pitchFamily="34" charset="-120"/>
              </a:rPr>
              <a:t>Documentation</a:t>
            </a:r>
            <a:endParaRPr lang="en-US" sz="1200" dirty="0"/>
          </a:p>
        </p:txBody>
      </p:sp>
      <p:sp>
        <p:nvSpPr>
          <p:cNvPr id="14" name="Shape 12"/>
          <p:cNvSpPr/>
          <p:nvPr/>
        </p:nvSpPr>
        <p:spPr>
          <a:xfrm>
            <a:off x="320040" y="3209544"/>
            <a:ext cx="8503920" cy="27432"/>
          </a:xfrm>
          <a:prstGeom prst="rect">
            <a:avLst/>
          </a:prstGeom>
          <a:solidFill>
            <a:srgbClr val="D1E3FF"/>
          </a:solidFill>
          <a:ln/>
        </p:spPr>
      </p:sp>
      <p:sp>
        <p:nvSpPr>
          <p:cNvPr id="15" name="Text 13"/>
          <p:cNvSpPr/>
          <p:nvPr/>
        </p:nvSpPr>
        <p:spPr>
          <a:xfrm>
            <a:off x="411480" y="3300984"/>
            <a:ext cx="8321040" cy="27432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Microsoft DAX Reference — docs.microsoft.com/en-us/dax/</a:t>
            </a:r>
            <a:endParaRPr lang="en-US" sz="1050" dirty="0"/>
          </a:p>
        </p:txBody>
      </p:sp>
      <p:sp>
        <p:nvSpPr>
          <p:cNvPr id="16" name="Text 14"/>
          <p:cNvSpPr/>
          <p:nvPr/>
        </p:nvSpPr>
        <p:spPr>
          <a:xfrm>
            <a:off x="411480" y="3575304"/>
            <a:ext cx="8321040" cy="27432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Power BI Documentation — docs.microsoft.com/en-us/power-bi/</a:t>
            </a:r>
            <a:endParaRPr lang="en-US" sz="1050" dirty="0"/>
          </a:p>
        </p:txBody>
      </p:sp>
      <p:sp>
        <p:nvSpPr>
          <p:cNvPr id="17" name="Text 15"/>
          <p:cNvSpPr/>
          <p:nvPr/>
        </p:nvSpPr>
        <p:spPr>
          <a:xfrm>
            <a:off x="411480" y="3849624"/>
            <a:ext cx="8321040" cy="27432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Power Query M Reference — docs.microsoft.com/en-us/powerquery-m/</a:t>
            </a:r>
            <a:endParaRPr lang="en-US" sz="1050" dirty="0"/>
          </a:p>
        </p:txBody>
      </p:sp>
      <p:sp>
        <p:nvSpPr>
          <p:cNvPr id="18" name="Text 16"/>
          <p:cNvSpPr/>
          <p:nvPr/>
        </p:nvSpPr>
        <p:spPr>
          <a:xfrm>
            <a:off x="320040" y="4215384"/>
            <a:ext cx="8503920" cy="274320"/>
          </a:xfrm>
          <a:prstGeom prst="rect">
            <a:avLst/>
          </a:prstGeom>
          <a:noFill/>
          <a:ln/>
        </p:spPr>
        <p:txBody>
          <a:bodyPr wrap="square" lIns="0" tIns="0" rIns="0" bIns="0" rtlCol="0" anchor="ctr"/>
          <a:lstStyle/>
          <a:p>
            <a:pPr indent="0" marL="0">
              <a:buNone/>
            </a:pPr>
            <a:r>
              <a:rPr lang="en-US" sz="1200" b="1" dirty="0">
                <a:solidFill>
                  <a:srgbClr val="0D1B3E"/>
                </a:solidFill>
                <a:latin typeface="Trebuchet MS" pitchFamily="34" charset="0"/>
                <a:ea typeface="Trebuchet MS" pitchFamily="34" charset="-122"/>
                <a:cs typeface="Trebuchet MS" pitchFamily="34" charset="-120"/>
              </a:rPr>
              <a:t>Learning Resources</a:t>
            </a:r>
            <a:endParaRPr lang="en-US" sz="1200" dirty="0"/>
          </a:p>
        </p:txBody>
      </p:sp>
      <p:sp>
        <p:nvSpPr>
          <p:cNvPr id="19" name="Shape 17"/>
          <p:cNvSpPr/>
          <p:nvPr/>
        </p:nvSpPr>
        <p:spPr>
          <a:xfrm>
            <a:off x="320040" y="4507992"/>
            <a:ext cx="8503920" cy="27432"/>
          </a:xfrm>
          <a:prstGeom prst="rect">
            <a:avLst/>
          </a:prstGeom>
          <a:solidFill>
            <a:srgbClr val="D1E3FF"/>
          </a:solidFill>
          <a:ln/>
        </p:spPr>
      </p:sp>
      <p:sp>
        <p:nvSpPr>
          <p:cNvPr id="20" name="Text 18"/>
          <p:cNvSpPr/>
          <p:nvPr/>
        </p:nvSpPr>
        <p:spPr>
          <a:xfrm>
            <a:off x="411480" y="4599432"/>
            <a:ext cx="8321040" cy="27432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MS Elevate AICTE Program — Data Analytics learning modules, Power BI fundamentals.</a:t>
            </a:r>
            <a:endParaRPr lang="en-US" sz="1050" dirty="0"/>
          </a:p>
        </p:txBody>
      </p:sp>
      <p:sp>
        <p:nvSpPr>
          <p:cNvPr id="21" name="Text 19"/>
          <p:cNvSpPr/>
          <p:nvPr/>
        </p:nvSpPr>
        <p:spPr>
          <a:xfrm>
            <a:off x="411480" y="4873752"/>
            <a:ext cx="8321040" cy="274320"/>
          </a:xfrm>
          <a:prstGeom prst="rect">
            <a:avLst/>
          </a:prstGeom>
          <a:noFill/>
          <a:ln/>
        </p:spPr>
        <p:txBody>
          <a:bodyPr wrap="square" lIns="0" tIns="0" rIns="0" bIns="0"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NPTEL / SWAYAM — Data Analysis &amp; Visualisation course materials.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9E0B"/>
          </a:solidFill>
          <a:ln/>
        </p:spPr>
      </p:sp>
      <p:sp>
        <p:nvSpPr>
          <p:cNvPr id="3" name="Shape 1"/>
          <p:cNvSpPr/>
          <p:nvPr/>
        </p:nvSpPr>
        <p:spPr>
          <a:xfrm>
            <a:off x="0" y="4983480"/>
            <a:ext cx="9144000" cy="160020"/>
          </a:xfrm>
          <a:prstGeom prst="rect">
            <a:avLst/>
          </a:prstGeom>
          <a:solidFill>
            <a:srgbClr val="1A56DB"/>
          </a:solidFill>
          <a:ln/>
        </p:spPr>
      </p:sp>
      <p:sp>
        <p:nvSpPr>
          <p:cNvPr id="4" name="Text 2"/>
          <p:cNvSpPr/>
          <p:nvPr/>
        </p:nvSpPr>
        <p:spPr>
          <a:xfrm>
            <a:off x="411480" y="777240"/>
            <a:ext cx="8321040" cy="1097280"/>
          </a:xfrm>
          <a:prstGeom prst="rect">
            <a:avLst/>
          </a:prstGeom>
          <a:noFill/>
          <a:ln/>
        </p:spPr>
        <p:txBody>
          <a:bodyPr wrap="square" lIns="0" tIns="0" rIns="0" bIns="0" rtlCol="0" anchor="ctr"/>
          <a:lstStyle/>
          <a:p>
            <a:pPr algn="ctr" indent="0" marL="0">
              <a:buNone/>
            </a:pPr>
            <a:r>
              <a:rPr lang="en-US" sz="6000" b="1" dirty="0">
                <a:solidFill>
                  <a:srgbClr val="FFFFFF"/>
                </a:solidFill>
                <a:latin typeface="Trebuchet MS" pitchFamily="34" charset="0"/>
                <a:ea typeface="Trebuchet MS" pitchFamily="34" charset="-122"/>
                <a:cs typeface="Trebuchet MS" pitchFamily="34" charset="-120"/>
              </a:rPr>
              <a:t>Thank You</a:t>
            </a:r>
            <a:endParaRPr lang="en-US" sz="6000" dirty="0"/>
          </a:p>
        </p:txBody>
      </p:sp>
      <p:sp>
        <p:nvSpPr>
          <p:cNvPr id="5" name="Text 3"/>
          <p:cNvSpPr/>
          <p:nvPr/>
        </p:nvSpPr>
        <p:spPr>
          <a:xfrm>
            <a:off x="411480" y="1783080"/>
            <a:ext cx="8321040" cy="411480"/>
          </a:xfrm>
          <a:prstGeom prst="rect">
            <a:avLst/>
          </a:prstGeom>
          <a:noFill/>
          <a:ln/>
        </p:spPr>
        <p:txBody>
          <a:bodyPr wrap="square" lIns="0" tIns="0" rIns="0" bIns="0" rtlCol="0" anchor="ctr"/>
          <a:lstStyle/>
          <a:p>
            <a:pPr algn="ctr" indent="0" marL="0">
              <a:buNone/>
            </a:pPr>
            <a:r>
              <a:rPr lang="en-US" sz="1800" i="1" dirty="0">
                <a:solidFill>
                  <a:srgbClr val="CADCFC"/>
                </a:solidFill>
                <a:latin typeface="Calibri" pitchFamily="34" charset="0"/>
                <a:ea typeface="Calibri" pitchFamily="34" charset="-122"/>
                <a:cs typeface="Calibri" pitchFamily="34" charset="-120"/>
              </a:rPr>
              <a:t>for your time and attention</a:t>
            </a:r>
            <a:endParaRPr lang="en-US" sz="1800" dirty="0"/>
          </a:p>
        </p:txBody>
      </p:sp>
      <p:sp>
        <p:nvSpPr>
          <p:cNvPr id="6" name="Shape 4"/>
          <p:cNvSpPr/>
          <p:nvPr/>
        </p:nvSpPr>
        <p:spPr>
          <a:xfrm>
            <a:off x="3200400" y="2286000"/>
            <a:ext cx="2743200" cy="54864"/>
          </a:xfrm>
          <a:prstGeom prst="rect">
            <a:avLst/>
          </a:prstGeom>
          <a:solidFill>
            <a:srgbClr val="F59E0B"/>
          </a:solidFill>
          <a:ln/>
        </p:spPr>
      </p:sp>
      <p:sp>
        <p:nvSpPr>
          <p:cNvPr id="7" name="Shape 5"/>
          <p:cNvSpPr/>
          <p:nvPr/>
        </p:nvSpPr>
        <p:spPr>
          <a:xfrm>
            <a:off x="457200" y="2514600"/>
            <a:ext cx="1920240" cy="457200"/>
          </a:xfrm>
          <a:prstGeom prst="rect">
            <a:avLst/>
          </a:prstGeom>
          <a:solidFill>
            <a:srgbClr val="112266"/>
          </a:solidFill>
          <a:ln w="12700">
            <a:solidFill>
              <a:srgbClr val="0891B2"/>
            </a:solidFill>
            <a:prstDash val="solid"/>
          </a:ln>
        </p:spPr>
      </p:sp>
      <p:sp>
        <p:nvSpPr>
          <p:cNvPr id="8" name="Text 6"/>
          <p:cNvSpPr/>
          <p:nvPr/>
        </p:nvSpPr>
        <p:spPr>
          <a:xfrm>
            <a:off x="457200" y="2514600"/>
            <a:ext cx="1920240" cy="457200"/>
          </a:xfrm>
          <a:prstGeom prst="rect">
            <a:avLst/>
          </a:prstGeom>
          <a:noFill/>
          <a:ln/>
        </p:spPr>
        <p:txBody>
          <a:bodyPr wrap="square" lIns="0" tIns="0" rIns="0" bIns="0"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250K Transactions</a:t>
            </a:r>
            <a:endParaRPr lang="en-US" sz="1050" dirty="0"/>
          </a:p>
        </p:txBody>
      </p:sp>
      <p:sp>
        <p:nvSpPr>
          <p:cNvPr id="9" name="Shape 7"/>
          <p:cNvSpPr/>
          <p:nvPr/>
        </p:nvSpPr>
        <p:spPr>
          <a:xfrm>
            <a:off x="2560320" y="2514600"/>
            <a:ext cx="1920240" cy="457200"/>
          </a:xfrm>
          <a:prstGeom prst="rect">
            <a:avLst/>
          </a:prstGeom>
          <a:solidFill>
            <a:srgbClr val="112266"/>
          </a:solidFill>
          <a:ln w="12700">
            <a:solidFill>
              <a:srgbClr val="0891B2"/>
            </a:solidFill>
            <a:prstDash val="solid"/>
          </a:ln>
        </p:spPr>
      </p:sp>
      <p:sp>
        <p:nvSpPr>
          <p:cNvPr id="10" name="Text 8"/>
          <p:cNvSpPr/>
          <p:nvPr/>
        </p:nvSpPr>
        <p:spPr>
          <a:xfrm>
            <a:off x="2560320" y="2514600"/>
            <a:ext cx="1920240" cy="457200"/>
          </a:xfrm>
          <a:prstGeom prst="rect">
            <a:avLst/>
          </a:prstGeom>
          <a:noFill/>
          <a:ln/>
        </p:spPr>
        <p:txBody>
          <a:bodyPr wrap="square" lIns="0" tIns="0" rIns="0" bIns="0"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9 DAX Measures</a:t>
            </a:r>
            <a:endParaRPr lang="en-US" sz="1050" dirty="0"/>
          </a:p>
        </p:txBody>
      </p:sp>
      <p:sp>
        <p:nvSpPr>
          <p:cNvPr id="11" name="Shape 9"/>
          <p:cNvSpPr/>
          <p:nvPr/>
        </p:nvSpPr>
        <p:spPr>
          <a:xfrm>
            <a:off x="4663440" y="2514600"/>
            <a:ext cx="1920240" cy="457200"/>
          </a:xfrm>
          <a:prstGeom prst="rect">
            <a:avLst/>
          </a:prstGeom>
          <a:solidFill>
            <a:srgbClr val="112266"/>
          </a:solidFill>
          <a:ln w="12700">
            <a:solidFill>
              <a:srgbClr val="0891B2"/>
            </a:solidFill>
            <a:prstDash val="solid"/>
          </a:ln>
        </p:spPr>
      </p:sp>
      <p:sp>
        <p:nvSpPr>
          <p:cNvPr id="12" name="Text 10"/>
          <p:cNvSpPr/>
          <p:nvPr/>
        </p:nvSpPr>
        <p:spPr>
          <a:xfrm>
            <a:off x="4663440" y="2514600"/>
            <a:ext cx="1920240" cy="457200"/>
          </a:xfrm>
          <a:prstGeom prst="rect">
            <a:avLst/>
          </a:prstGeom>
          <a:noFill/>
          <a:ln/>
        </p:spPr>
        <p:txBody>
          <a:bodyPr wrap="square" lIns="0" tIns="0" rIns="0" bIns="0"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3 Dashboard Pages</a:t>
            </a:r>
            <a:endParaRPr lang="en-US" sz="1050" dirty="0"/>
          </a:p>
        </p:txBody>
      </p:sp>
      <p:sp>
        <p:nvSpPr>
          <p:cNvPr id="13" name="Shape 11"/>
          <p:cNvSpPr/>
          <p:nvPr/>
        </p:nvSpPr>
        <p:spPr>
          <a:xfrm>
            <a:off x="6766560" y="2514600"/>
            <a:ext cx="1920240" cy="457200"/>
          </a:xfrm>
          <a:prstGeom prst="rect">
            <a:avLst/>
          </a:prstGeom>
          <a:solidFill>
            <a:srgbClr val="112266"/>
          </a:solidFill>
          <a:ln w="12700">
            <a:solidFill>
              <a:srgbClr val="0891B2"/>
            </a:solidFill>
            <a:prstDash val="solid"/>
          </a:ln>
        </p:spPr>
      </p:sp>
      <p:sp>
        <p:nvSpPr>
          <p:cNvPr id="14" name="Text 12"/>
          <p:cNvSpPr/>
          <p:nvPr/>
        </p:nvSpPr>
        <p:spPr>
          <a:xfrm>
            <a:off x="6766560" y="2514600"/>
            <a:ext cx="1920240" cy="457200"/>
          </a:xfrm>
          <a:prstGeom prst="rect">
            <a:avLst/>
          </a:prstGeom>
          <a:noFill/>
          <a:ln/>
        </p:spPr>
        <p:txBody>
          <a:bodyPr wrap="square" lIns="0" tIns="0" rIns="0" bIns="0"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30+ Visuals</a:t>
            </a:r>
            <a:endParaRPr lang="en-US" sz="1050" dirty="0"/>
          </a:p>
        </p:txBody>
      </p:sp>
      <p:sp>
        <p:nvSpPr>
          <p:cNvPr id="15" name="Shape 13"/>
          <p:cNvSpPr/>
          <p:nvPr/>
        </p:nvSpPr>
        <p:spPr>
          <a:xfrm>
            <a:off x="2286000" y="3154680"/>
            <a:ext cx="4572000" cy="1508760"/>
          </a:xfrm>
          <a:prstGeom prst="rect">
            <a:avLst/>
          </a:prstGeom>
          <a:solidFill>
            <a:srgbClr val="0A1232"/>
          </a:solidFill>
          <a:ln w="12700">
            <a:solidFill>
              <a:srgbClr val="1A56DB"/>
            </a:solidFill>
            <a:prstDash val="solid"/>
          </a:ln>
        </p:spPr>
      </p:sp>
      <p:sp>
        <p:nvSpPr>
          <p:cNvPr id="16" name="Text 14"/>
          <p:cNvSpPr/>
          <p:nvPr/>
        </p:nvSpPr>
        <p:spPr>
          <a:xfrm>
            <a:off x="2377440" y="3246120"/>
            <a:ext cx="438912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Simaran Shaikh</a:t>
            </a:r>
            <a:endParaRPr lang="en-US" sz="1600" dirty="0"/>
          </a:p>
        </p:txBody>
      </p:sp>
      <p:sp>
        <p:nvSpPr>
          <p:cNvPr id="17" name="Text 15"/>
          <p:cNvSpPr/>
          <p:nvPr/>
        </p:nvSpPr>
        <p:spPr>
          <a:xfrm>
            <a:off x="2377440" y="3602736"/>
            <a:ext cx="4389120" cy="27432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B.Com Financial Accounting  ·  Govt. College of Arts, Science &amp; Commerce, Goa</a:t>
            </a:r>
            <a:endParaRPr lang="en-US" sz="1000" dirty="0"/>
          </a:p>
        </p:txBody>
      </p:sp>
      <p:sp>
        <p:nvSpPr>
          <p:cNvPr id="18" name="Text 16"/>
          <p:cNvSpPr/>
          <p:nvPr/>
        </p:nvSpPr>
        <p:spPr>
          <a:xfrm>
            <a:off x="2377440" y="3913632"/>
            <a:ext cx="4389120" cy="256032"/>
          </a:xfrm>
          <a:prstGeom prst="rect">
            <a:avLst/>
          </a:prstGeom>
          <a:noFill/>
          <a:ln/>
        </p:spPr>
        <p:txBody>
          <a:bodyPr wrap="square" lIns="0" tIns="0" rIns="0" bIns="0" rtlCol="0" anchor="ctr"/>
          <a:lstStyle/>
          <a:p>
            <a:pPr algn="ctr" indent="0" marL="0">
              <a:buNone/>
            </a:pPr>
            <a:r>
              <a:rPr lang="en-US" sz="1000" dirty="0">
                <a:solidFill>
                  <a:srgbClr val="0891B2"/>
                </a:solidFill>
                <a:latin typeface="Calibri" pitchFamily="34" charset="0"/>
                <a:ea typeface="Calibri" pitchFamily="34" charset="-122"/>
                <a:cs typeface="Calibri" pitchFamily="34" charset="-120"/>
              </a:rPr>
              <a:t>MS Elevate AICTE Internship  ·  Data Analytics  ·  February 2026</a:t>
            </a:r>
            <a:endParaRPr lang="en-US" sz="1000" dirty="0"/>
          </a:p>
        </p:txBody>
      </p:sp>
      <p:sp>
        <p:nvSpPr>
          <p:cNvPr id="19" name="Text 17"/>
          <p:cNvSpPr/>
          <p:nvPr/>
        </p:nvSpPr>
        <p:spPr>
          <a:xfrm>
            <a:off x="2377440" y="4206240"/>
            <a:ext cx="4389120" cy="256032"/>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Tool: Microsoft Power BI  ·  Dataset: Kaggle UPI Transactions 2024</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UPI Transaction Analytics Dashboard</dc:title>
  <dc:subject>PptxGenJS Presentation</dc:subject>
  <dc:creator>Simaran Shaikh</dc:creator>
  <cp:lastModifiedBy>Simaran Shaikh</cp:lastModifiedBy>
  <cp:revision>1</cp:revision>
  <dcterms:created xsi:type="dcterms:W3CDTF">2026-03-14T17:42:27Z</dcterms:created>
  <dcterms:modified xsi:type="dcterms:W3CDTF">2026-03-14T17:42:27Z</dcterms:modified>
</cp:coreProperties>
</file>